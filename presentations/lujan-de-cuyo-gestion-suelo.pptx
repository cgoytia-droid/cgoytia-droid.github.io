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Bienvenida. Un caso real de una ciudad intermedia que usa la gestión del suelo para financiar su propia adaptación climática. Hoy: seis instrumentos, un fideicomiso y una regla de gasto con equidad.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arco de la clase: del problema físico (agua-suelo) a una máquina financiera que captura valor, lo blinda y lo redistribuye con equidad.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 la clase cabe en cuatro verbos: capturar, blindar, apalancar, redistribuir. Si se recuerda esto, se recuerda el caso.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dato duro: crece 46% en doce años sobre 200 mm de lluvia. Cada hectárea que se urbaniza suma demanda de agua y resta recarga del acuífero.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corazón del caso. Una sola decisión —que otorga el propio Concejo— produce ganancia privada y costo colectivo. Ese diferencial de valor es el que puede pagar la adaptación.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fundamento teórico: la plusvalía del suelo es en buena parte no ganada. Gravarla es eficiente (no distorsiona) y justo. La novedad es acoplarla al financiamiento climático.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 estructural: el capital climático premia a quien ya puede, no a quien más lo necesita. La única salida para una ciudad intermedia es traer su propia llave.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tesis central: el valor no está en cada instrumento, sino en encadenarlos. Crear → capturar → blindar → redistribuir → apalancar.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Vista general de los seis. No hace falta memorizarlos: lo importante es que cada uno engancha en un momento distinto del ciclo del desarrollo.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Instrumento clásico. Si el municipio hace la obra hídrica, captura parte de la valorización que esa obra crea. Se paga en cuotas para no golpear a los hogares de menores ingresos.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instrumento emblemático de la paradoja: la conversión de suelo permeable a impermeable genera el costo, y este mismo cargo captura el pago que lo financia.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está operativo. 5.315 lotes, recaudación real estimada. Además del ingreso, empuja el relleno urbano en vez del sprawl: adaptación y forma urbana a la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edificabilidad extra deja de ser un regalo del zoning y pasa a comprarse. El precio se referencia al mercado y premia el diseño eficiente en agua.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instrumentos que orientan conducta, no sólo recaudan: el gradiente verde premia el diseño adaptado, y la TDR protege suelo estratégico sin gasto de compra.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evidencia más contundente. No es teoría: un cargo por conexión de servicios se multiplicó por 11 en cuatro años, en dólares constantes. Es la prueba de que el modelo escala.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Cuadro de referencia. Dos ya operativos (verde), el resto diseñados y listos. Nótese la diversidad de disparadores: cada uno cubre un momento distinto.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fideicomiso es la pieza que convierte recaudación en credibilidad. Separado del presupuesto, auditado, con reglas de reparto fijas: eso es lo que un financista puede confiar.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Cómo un peso local se convierte en muchos dólares globales: usar la recaudación como contrapartida, emitir deuda verde contra ella, y escalar hacia la banca multilateral.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regla de gasto es tan importante como la recaudación. El ICD mide seis dimensiones y dirige la inversión a los barrios peor puntuados. Es equidad convertida en algoritmo.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honestidad del caso: sin regla, el dinero va a donde ya está bien. El ICD existe precisamente para forzar la corrección hacia los distritos D y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escala en tres cifras: lo que ya hay, el potencial propio y la brecha que sólo cierra el apalancamiento. El fideicomiso es el puente entre la segunda y la tercera.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a la pregunta de examen: como el suelo es inelástico por el límite del agua, el impuesto no se traslada, recae en el dueño de la tierra. Es progresivo.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bonus: los mismos instrumentos que financian la adaptación también reducen emisiones. No hay que elegir entre adaptar y mitigar; aquí es la misma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para abrir el debate. La primera y la última suelen dar la mejor discusión: incidencia del impuesto y sostenibilidad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Cierre. Cuatro ideas para llevarse y una frase: lo que define una transición justa no es cuánto dinero, sino dónde cae.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2608" y="6309360"/>
            <a:ext cx="11899087" cy="5486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17920" y="6309360"/>
            <a:ext cx="5973775" cy="54864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4C088"/>
                </a:solidFill>
                <a:latin typeface="Calibri"/>
              </a:rPr>
              <a:t>CIPUV–UTDT · LINCOLN INSTITUTE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234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9D0DA"/>
                </a:solidFill>
                <a:latin typeface="Calibri"/>
              </a:rPr>
              <a:t>LUJÁN DE CUYO · MENDOZA, ARGENTINA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10424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FFFFFF"/>
                </a:solidFill>
                <a:latin typeface="Calibri"/>
              </a:rPr>
              <a:t>Innovación en gestión del suelo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D4C088"/>
                </a:solidFill>
                <a:latin typeface="Calibri"/>
              </a:rPr>
              <a:t>para financiar la adaptación climática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16052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D8DDE4"/>
                </a:solidFill>
                <a:latin typeface="Calibri"/>
              </a:rPr>
              <a:t>Seis instrumentos de captura de valor · un Fideicomiso · el Índice de Ciudad Deseada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02920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029200"/>
            <a:ext cx="2926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Caso: Mendoza, Argentina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5029200"/>
            <a:ext cx="320040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77639" y="5029200"/>
            <a:ext cx="3200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Enfoque: Land Value Capture + clima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0920" y="502920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20" y="5029200"/>
            <a:ext cx="2743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Clase · 30 minutos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HOJA DE RUTA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Lo que veremos en 30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109728" cy="105156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148840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F8F9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148840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El contexto y la paradoja agua–suelo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148840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6792" y="2148840"/>
            <a:ext cx="109728" cy="105156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48840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8860B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148840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idea: captura de valor del suelo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56432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456432"/>
            <a:ext cx="109728" cy="105156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456432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1456A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456432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Los seis instrumentos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3456432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36792" y="3456432"/>
            <a:ext cx="109728" cy="105156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456432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4E5869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2672" y="3456432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arquitectura: Banco + Fondo + Fideicomiso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764024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4764024"/>
            <a:ext cx="109728" cy="105156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4764024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5A8F6B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764024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regla de gasto: Índice de Ciudad Deseada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36792" y="4764024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36792" y="4764024"/>
            <a:ext cx="109728" cy="105156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4764024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8860B"/>
                </a:solidFill>
                <a:latin typeface="Calibr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62672" y="4764024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Números, equidad y co-beneficios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LA IDEA EN UNA FRASE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Cuatro verbos, un sistema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260604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8F9D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F8F9D"/>
                </a:solidFill>
                <a:latin typeface="Calibri"/>
              </a:rPr>
              <a:t>Capturar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la plusvalía que genera el propio desarrollo urbano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47872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CEEF1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47872" y="2331720"/>
            <a:ext cx="260604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3904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E5869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3904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4E5869"/>
                </a:solidFill>
                <a:latin typeface="Calibri"/>
              </a:rPr>
              <a:t>Blindar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3904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los recursos en un fideicomiso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9944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F6F0E0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9944" y="2331720"/>
            <a:ext cx="260604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5976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B8860B"/>
                </a:solidFill>
                <a:latin typeface="Calibri"/>
              </a:rPr>
              <a:t>Apalancar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5976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financiamiento climático internacional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72016" y="2331720"/>
            <a:ext cx="260604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8048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A8F6B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8048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5A8F6B"/>
                </a:solidFill>
                <a:latin typeface="Calibri"/>
              </a:rPr>
              <a:t>Redistribuir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8048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con equidad, hacia donde más se necesita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EL CONTEXTO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Una ciudad que crece con </a:t>
            </a:r>
            <a:r>
              <a:rPr sz="3600" b="1" i="0">
                <a:solidFill>
                  <a:srgbClr val="2F8F9D"/>
                </a:solidFill>
                <a:latin typeface="Calibri"/>
              </a:rPr>
              <a:t>presupuesto de agua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7406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~175.000 habitantes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en un oasis semiárido al pie de los Andes.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~200 mm de lluvia al año: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todo el sistema depende del deshielo andino.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Dos tendencias en colisión: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menos nieve, más urbanización del periurbano regado.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2240280"/>
            <a:ext cx="28346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49640" y="2240280"/>
            <a:ext cx="2834640" cy="635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0808" y="2459736"/>
            <a:ext cx="2432304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 i="0">
                <a:solidFill>
                  <a:srgbClr val="2F8F9D"/>
                </a:solidFill>
                <a:latin typeface="Calibri"/>
              </a:rPr>
              <a:t>+46%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4E5869"/>
                </a:solidFill>
                <a:latin typeface="Calibri"/>
              </a:rPr>
              <a:t>crecimiento poblacional 2010–2022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EL PROBLEMA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paradoja agua–suelo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8F9D"/>
                </a:solidFill>
                <a:latin typeface="Calibri"/>
              </a:rPr>
              <a:t>GANANCIA PRIVADA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71800"/>
            <a:ext cx="4663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Rezonificar un viñedo a loteo multiplica su valor varias veces.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1456A"/>
                </a:solidFill>
                <a:latin typeface="Calibri"/>
              </a:rPr>
              <a:t>COSTO COLECTIVO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71800"/>
            <a:ext cx="4663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El mismo acto sella el suelo, elimina recarga, sube la demanda de agua y borra el sumidero de carbono.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800600"/>
            <a:ext cx="10789920" cy="1051560"/>
          </a:xfrm>
          <a:prstGeom prst="roundRect">
            <a:avLst>
              <a:gd name="adj" fmla="val 8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800600"/>
            <a:ext cx="10149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→  El incremento de valor es la base natural para financiar la adaptación: </a:t>
            </a:r>
            <a:r>
              <a:rPr sz="2000" b="1" i="0">
                <a:solidFill>
                  <a:srgbClr val="D4C088"/>
                </a:solidFill>
                <a:latin typeface="Calibri"/>
              </a:rPr>
              <a:t>quien causa el costo, financia la respuesta.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EL MARCO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¿Qué es la captura de valor del suelo?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El precio del suelo capitaliza la inversión pública, la regulación y el crecimiento.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Buena parte de ese incremento es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«no ganado»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por el propietario (George; Glaeser; Duranton &amp; Puga).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Gravarlo es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eficiente y justo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: recae sobre una ganancia que no produjo quien la recibe.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7A828E"/>
                </a:solidFill>
                <a:latin typeface="Calibri"/>
              </a:rPr>
              <a:t>Tradición latinoamericana: valorización (Colombia), CEPACs (São Paulo), Estatuto de la Ciudad (Brasil). </a:t>
            </a:r>
            <a:r>
              <a:rPr sz="1500" b="0" i="1">
                <a:solidFill>
                  <a:srgbClr val="6F7D94"/>
                </a:solidFill>
                <a:latin typeface="Calibri"/>
              </a:rPr>
              <a:t>La brecha que este caso cierra: unir la LVC con el financiamiento climático (Dunning &amp; Lord, 2020).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POR QUÉ IMPORTA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El dinero sigue la </a:t>
            </a:r>
            <a:r>
              <a:rPr sz="3600" b="1" i="0">
                <a:solidFill>
                  <a:srgbClr val="B1456A"/>
                </a:solidFill>
                <a:latin typeface="Calibri"/>
              </a:rPr>
              <a:t>capacidad</a:t>
            </a:r>
            <a:r>
              <a:rPr sz="3600" b="1" i="0">
                <a:solidFill>
                  <a:srgbClr val="4E5869"/>
                </a:solidFill>
                <a:latin typeface="Calibri"/>
              </a:rPr>
              <a:t>, no la </a:t>
            </a:r>
            <a:r>
              <a:rPr sz="3600" b="1" i="0">
                <a:solidFill>
                  <a:srgbClr val="5A8F6B"/>
                </a:solidFill>
                <a:latin typeface="Calibri"/>
              </a:rPr>
              <a:t>necesidad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40280"/>
            <a:ext cx="329184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40280"/>
            <a:ext cx="3291840" cy="635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459736"/>
            <a:ext cx="2889504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B1456A"/>
                </a:solidFill>
                <a:latin typeface="Calibri"/>
              </a:rPr>
              <a:t>USD 147
mil M/año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4E5869"/>
                </a:solidFill>
                <a:latin typeface="Calibri"/>
              </a:rPr>
              <a:t>de adaptación que necesitan las ciudades en desarrollo a 2030 (CCFLA, 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286000"/>
            <a:ext cx="7040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El financiamiento fluye a las metrópolis con más capacidad, no a las más expuestas (Clifton et al., 2025).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Las ciudades intermedias quedan atrapadas: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sin capacidad no acceden; sin acceso no construyen capacidad.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La salida: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generar recurso propio, predecible y blindado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— la «llave» que pide el financista.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LA INNOVACIÓN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Un sistema, no instrumentos sueltos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51760"/>
            <a:ext cx="196596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Crear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obra · rezonificación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34640" y="2651760"/>
            <a:ext cx="196596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923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Capturar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923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6 instrumentos LVC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83480" y="2651760"/>
            <a:ext cx="196596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807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5869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807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Blindar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807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Banco + Fondo + Fideicomiso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0" y="2651760"/>
            <a:ext cx="196596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691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691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Redistribuir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9691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Índice de Ciudad Deseada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999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8116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81160" y="2651760"/>
            <a:ext cx="1965960" cy="762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4575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1456A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575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Apalancar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4575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bono verde · multilaterales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892040"/>
            <a:ext cx="10789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La coordinación es lo que convierte 6 cargos modestos en un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sistema bancable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05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4C088"/>
                </a:solidFill>
                <a:latin typeface="Calibri"/>
              </a:rPr>
              <a:t>SECCIÓN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Los seis instrumentos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060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FD5DE"/>
                </a:solidFill>
                <a:latin typeface="Calibri"/>
              </a:rPr>
              <a:t>Cada uno captura el incremento de valor en un punto distinto del ciclo de desarrollo.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Contribución por Mejoras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53712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53712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Participación en Valoración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8744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984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Sobretasa a baldíos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Suelo Creado / DCA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53712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3712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Incentivos fiscales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38744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8744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5984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Transferencia de Derechos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INSTRUMENTO 1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Contribución por Mejoras (betterment)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Grava el aumento de valor que una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obra pública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genera en los inmuebles vecinos.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Tasa: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30–50% del incremento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en una «zona de beneficio» delimitada por SIG.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Doble función: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financia la obra hídrica y demuestra, en efectivo, que rindió.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INSTRUMENTO 2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Participación en la Valoración de Activos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Grava la plusvalía por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rezonificación o mayor intensidad de uso.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Tasa: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30–50% del diferencial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de valor antes / después.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Es la lógica del sistema en miniatura: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el acto que genera el costo es el que paga la respuesta.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INSTRUMENTO 3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Sobretasa a Inmueble Ocioso (baldíos)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5A8F6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● OPERATIVO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Grava parcelas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servidas pero ociosas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dentro del perímetro urbano.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Recargo progresivo: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+100%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estándar y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+200%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en vacíos prioritarios.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Promueve el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desarrollo compacto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usando el padrón que ya existe.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224028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0" y="2240280"/>
            <a:ext cx="2697480" cy="635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2459736"/>
            <a:ext cx="229514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5A8F6B"/>
                </a:solidFill>
                <a:latin typeface="Calibri"/>
              </a:rPr>
              <a:t>5.315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E5869"/>
                </a:solidFill>
                <a:latin typeface="Calibri"/>
              </a:rPr>
              <a:t>lotes alcanzados (2026)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36576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0" y="3657600"/>
            <a:ext cx="2697480" cy="635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8" y="3877056"/>
            <a:ext cx="229514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B8860B"/>
                </a:solidFill>
                <a:latin typeface="Calibri"/>
              </a:rPr>
              <a:t>~ARS 345 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E5869"/>
                </a:solidFill>
                <a:latin typeface="Calibri"/>
              </a:rPr>
              <a:t>/año  ≈ USD 277.500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INSTRUMENTO 4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Suelo Creado / Derechos de Construcción Adicional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B8860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Vende el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derecho a construir por encima de una «línea de base».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Modelo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CEPAC (São Paulo)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adaptado a ciudad intermedia.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COS 2026: de 10 m a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36 m (~8,7 pisos extra)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sólo vía compra; bonos por eficiencia hídrica.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INSTRUMENTOS 5 Y 6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Incentivos fiscales · Transferencia de Derechos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94560"/>
            <a:ext cx="530352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2514600"/>
            <a:ext cx="822960" cy="822960"/>
          </a:xfrm>
          <a:prstGeom prst="roundRect">
            <a:avLst>
              <a:gd name="adj" fmla="val 16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606040"/>
            <a:ext cx="374903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A8F6B"/>
                </a:solidFill>
                <a:latin typeface="Calibri"/>
              </a:rPr>
              <a:t>Incentivos fiscales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657600"/>
            <a:ext cx="46177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Un «gradiente verde»: descuentos por eficiencia hídrica, permeabilidad y arbolado. Sin adaptación, cargo pleno; con adaptación, alivio fiscal.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9456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30352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0" y="2514600"/>
            <a:ext cx="822960" cy="822960"/>
          </a:xfrm>
          <a:prstGeom prst="roundRect">
            <a:avLst>
              <a:gd name="adj" fmla="val 16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5146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606040"/>
            <a:ext cx="374903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8F9D"/>
                </a:solidFill>
                <a:latin typeface="Calibri"/>
              </a:rPr>
              <a:t>Transferencia de Derechos (TDR)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6177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Proteger recarga, riberas y agro sin comprar el suelo: las zonas emisoras venden sus derechos a zonas receptoras vía mercado.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4C088"/>
                </a:solidFill>
                <a:latin typeface="Calibri"/>
              </a:rPr>
              <a:t>(+) EL INSTRUMENTO ESTRELLA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43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Aporte de Agua y Cloaca — la evidencia más fuerte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0574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14630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● OPERATIVO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8803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3108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B9C0CA"/>
                </a:solidFill>
                <a:latin typeface="Calibri"/>
              </a:rPr>
              <a:t>2021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USD 60.700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880360"/>
            <a:ext cx="109728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8803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5A8F6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3063240"/>
            <a:ext cx="3108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DDEAE1"/>
                </a:solidFill>
                <a:latin typeface="Calibri"/>
              </a:rPr>
              <a:t>2025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USD 690.500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288036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B8860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2880360"/>
            <a:ext cx="251460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11×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en cuatro años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3035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FD5DE"/>
                </a:solidFill>
                <a:latin typeface="Calibri"/>
              </a:rPr>
              <a:t>Prueba de concepto, en efectivo: un cargo ligado al suelo escala en pocos años.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SÍNTESIS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Los instrumentos de un vistazo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57400"/>
            <a:ext cx="10789920" cy="530352"/>
          </a:xfrm>
          <a:prstGeom prst="rect">
            <a:avLst/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36576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INSTRUMENTO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057400"/>
            <a:ext cx="26517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DISPARADOR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2057400"/>
            <a:ext cx="24688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TASA / 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2057400"/>
            <a:ext cx="12801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ESTADO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58775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8775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Contribución por Mejoras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58775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Obra pública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0" y="258775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30–50% del incremento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258775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09067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09067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Participación en Valoración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09067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Rezonificación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309067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30–50% del diferencial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09067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59359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59359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Sobretasa a baldíos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59359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Lote ocioso servido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359359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+100% / +200%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59359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A8F6B"/>
                </a:solidFill>
                <a:latin typeface="Calibri"/>
              </a:rPr>
              <a:t>● OPERATIVO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09651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09651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Suelo Creado / DCA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09651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Edificar sobre la base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0" y="409651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Mercado (COS 2026)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409651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59943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59943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Incentivos fiscales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59943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Diseño climático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0" y="459943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Alivio variable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0" y="459943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510235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10235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Transferencia de Derechos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510235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Zona receptora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0" y="510235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Mercado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510235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0527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560527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Aporte Agua y Cloaca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560527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Nuevo desarrollo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560527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Tarifaria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49840" y="560527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A8F6B"/>
                </a:solidFill>
                <a:latin typeface="Calibri"/>
              </a:rPr>
              <a:t>● OPER · 11×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E5869"/>
                </a:solidFill>
                <a:latin typeface="Calibri"/>
              </a:rPr>
              <a:t>LA ARQUITECTURA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¿Por qué un </a:t>
            </a:r>
            <a:r>
              <a:rPr sz="3600" b="1" i="0">
                <a:solidFill>
                  <a:srgbClr val="B8860B"/>
                </a:solidFill>
                <a:latin typeface="Calibri"/>
              </a:rPr>
              <a:t>Fideicomiso</a:t>
            </a:r>
            <a:r>
              <a:rPr sz="3600" b="1" i="0">
                <a:solidFill>
                  <a:srgbClr val="4E5869"/>
                </a:solidFill>
                <a:latin typeface="Calibri"/>
              </a:rPr>
              <a:t>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6766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Recurso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blindado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, legalmente separado del presupuesto general.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Es el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«colateral»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que un banco o un bono puede ver y auditar.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Gobernanza que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blinda los recursos entre gestiones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: directorio + externos, auditoría publicada.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240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128016" cy="10058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2240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F8F9D"/>
                </a:solidFill>
                <a:latin typeface="Calibri"/>
              </a:rPr>
              <a:t>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2240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Inversión en infraestructura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383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3383280"/>
            <a:ext cx="128016" cy="1005840"/>
          </a:xfrm>
          <a:prstGeom prst="rect">
            <a:avLst/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3383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F7D94"/>
                </a:solidFill>
                <a:latin typeface="Calibri"/>
              </a:rPr>
              <a:t>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383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Operación y mantenimiento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526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4526280"/>
            <a:ext cx="128016" cy="10058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4526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B8860B"/>
                </a:solidFill>
                <a:latin typeface="Calibri"/>
              </a:rPr>
              <a:t>15%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4526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Cuenta de Apalancamiento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DE RECURSO PROPIO A CAPITAL GLOBAL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escalera de apalancamiento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95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Matching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La Cuenta de Apalancamiento (~USD 0,45 M/año) ancla la contrapartida de 10–30%.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1640" y="3429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91640" y="3429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640" y="3429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538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Emitir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931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Bono verde de 3–4× la recaudación anual (~USD 9–12 M).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97480" y="4572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97480" y="4572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7480" y="4572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681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Escalar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5074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El historial abre facilidades mayores: CAF, BID, GCF.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9436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1">
                <a:solidFill>
                  <a:srgbClr val="B8860B"/>
                </a:solidFill>
                <a:latin typeface="Calibri"/>
              </a:rPr>
              <a:t>La credibilidad, como el capital, se acumula.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DE GASTO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Índice de Ciudad Deseada (ICD)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331720"/>
            <a:ext cx="365760" cy="365760"/>
          </a:xfrm>
          <a:prstGeom prst="ellipse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Espacios verdes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53712" y="2331720"/>
            <a:ext cx="365760" cy="365760"/>
          </a:xfrm>
          <a:prstGeom prst="ellipse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2352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Movilidad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2331720"/>
            <a:ext cx="365760" cy="365760"/>
          </a:xfrm>
          <a:prstGeom prst="ellipse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87384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Compacidad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3282696"/>
            <a:ext cx="365760" cy="36576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Servicios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53712" y="3282696"/>
            <a:ext cx="365760" cy="365760"/>
          </a:xfrm>
          <a:prstGeom prst="ellipse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2352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Equidad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38744" y="3282696"/>
            <a:ext cx="365760" cy="365760"/>
          </a:xfrm>
          <a:prstGeom prst="ellipse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7384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Infraestructura agua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72768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72768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59736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59736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46704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C97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6704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33672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33672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4206240"/>
            <a:ext cx="5943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B3038"/>
                </a:solidFill>
                <a:latin typeface="Calibri"/>
              </a:rPr>
              <a:t>Escala A (≥90%) … E (&lt;25%).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Menor nota = mayor prioridad: el dinero va a la necesidad.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LA PRUEBA DE EQUIDAD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¿Dónde se necesita vs. dónde se invierte?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Las 2 mayores inversiones caen en distritos que </a:t>
            </a:r>
            <a:r>
              <a:rPr sz="2100" b="1" i="0">
                <a:solidFill>
                  <a:srgbClr val="2F8F9D"/>
                </a:solidFill>
                <a:latin typeface="Calibri"/>
              </a:rPr>
              <a:t>ya puntúan bien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en verde.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Los más necesitados </a:t>
            </a:r>
            <a:r>
              <a:rPr sz="2100" b="1" i="0">
                <a:solidFill>
                  <a:srgbClr val="B1456A"/>
                </a:solidFill>
                <a:latin typeface="Calibri"/>
              </a:rPr>
              <a:t>(Vistalba, Las Compuertas, Industrial)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no reciben obra verde.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La palanca: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reasignar las microplazas (ARS 1.200 M) a distritos D/E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1">
                <a:solidFill>
                  <a:srgbClr val="B8860B"/>
                </a:solidFill>
                <a:latin typeface="Calibri"/>
              </a:rPr>
              <a:t>El ICD no describe: corrige. Alinea la inversión con la necesidad, no con la capacidad.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LOS NÚMEROS REALES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Potencial de recaudación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68880"/>
            <a:ext cx="352044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5A8F6B"/>
                </a:solidFill>
                <a:latin typeface="Calibri"/>
              </a:rPr>
              <a:t>~USD 1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YA se recauda hoy (2 instrumentos operativos)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62272" y="2468880"/>
            <a:ext cx="352044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B8860B"/>
                </a:solidFill>
                <a:latin typeface="Calibri"/>
              </a:rPr>
              <a:t>~USD 3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potencial del paquete completo (base)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38744" y="2468880"/>
            <a:ext cx="352044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F8F9D"/>
                </a:solidFill>
                <a:latin typeface="Calibri"/>
              </a:rPr>
              <a:t>USD 56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3064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brecha de espacio verde → la cierra el bono verde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7A828E"/>
                </a:solidFill>
                <a:latin typeface="Calibri"/>
              </a:rPr>
              <a:t>De ~1 a ~3 con el paquete; y del recurso propio, un salto a decenas con el bono verde.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EQUIDAD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¿Quién paga y quién se beneficia?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B1456A"/>
                </a:solidFill>
                <a:latin typeface="Calibri"/>
              </a:rPr>
              <a:t>PAGA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2608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2B3038"/>
                </a:solidFill>
                <a:latin typeface="Calibri"/>
              </a:rPr>
              <a:t>Quien captura la plusvalía: desarrolladores y dueños de suelo ocioso (bases progresivas).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A8F6B"/>
                </a:solidFill>
                <a:latin typeface="Calibri"/>
              </a:rPr>
              <a:t>SE BENEFICIA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2B3038"/>
                </a:solidFill>
                <a:latin typeface="Calibri"/>
              </a:rPr>
              <a:t>El distrito con menor acceso a verde, agua y servicios (vía ICD).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617720"/>
            <a:ext cx="10789920" cy="1234440"/>
          </a:xfrm>
          <a:prstGeom prst="roundRect">
            <a:avLst>
              <a:gd name="adj" fmla="val 7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1498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Con suelo inelástico (límite hídrico), la carga recae en el terrateniente → </a:t>
            </a:r>
            <a:r>
              <a:rPr sz="1900" b="1" i="0">
                <a:solidFill>
                  <a:srgbClr val="D4C088"/>
                </a:solidFill>
                <a:latin typeface="Calibri"/>
              </a:rPr>
              <a:t>un caso deliberadamente progresivo.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NO SÓLO ADAPTACIÓN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Co-beneficios </a:t>
            </a:r>
            <a:r>
              <a:rPr sz="3600" b="1" i="0">
                <a:solidFill>
                  <a:srgbClr val="5A8F6B"/>
                </a:solidFill>
                <a:latin typeface="Calibri"/>
              </a:rPr>
              <a:t>low-carbon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Premian el desarrollo compacto y orientado al transporte (TOD):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el metrotranvía concentra edificabilidad.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Menos viajes en auto: </a:t>
            </a:r>
            <a:r>
              <a:rPr sz="2100" b="1" i="0">
                <a:solidFill>
                  <a:srgbClr val="2F8F9D"/>
                </a:solidFill>
                <a:latin typeface="Calibri"/>
              </a:rPr>
              <a:t>menor consumo energético e hídrico per cápita.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Se evita convertir suelo agrícola y de pedemonte: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carbono + recarga preservados.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1">
                <a:solidFill>
                  <a:srgbClr val="B8860B"/>
                </a:solidFill>
                <a:latin typeface="Calibri"/>
              </a:rPr>
              <a:t>Adaptación y mitigación: la misma palanca, accionada una sola vez.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4C088"/>
                </a:solidFill>
                <a:latin typeface="Calibri"/>
              </a:rPr>
              <a:t>PARA DISCUTIR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801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Cinco preguntas para el debate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377440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377440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¿La captura de valor es regresiva o progresiva? ¿De qué depende?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127248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2724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127248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¿Por qué un fideicomiso y no el presupuesto general?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877056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87705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877056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¿Qué pasa si el take-up de derechos de construcción es bajo?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626864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2686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62686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¿Lo replicarías en tu ciudad? ¿Qué instrumento primero?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5376672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37667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376672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¿Cómo se sostiene políticamente entre gestiones?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PARA LLEVARSE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Cuatro ideas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57400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57400"/>
            <a:ext cx="128016" cy="12344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219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1.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Una máquina replicable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15768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capturar → blindar → apalancar → redistribuir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057400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91072" y="2057400"/>
            <a:ext cx="128016" cy="123444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2219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2.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Ya funciona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715768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~USD 1 M/año se recauda; el paquete llega a ~USD 3 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29584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529584"/>
            <a:ext cx="128016" cy="12344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9417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3.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El fideicomiso es la llave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187952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convierte recurso local en contrapartida y repago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3529584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91072" y="3529584"/>
            <a:ext cx="128016" cy="123444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369417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1456A"/>
                </a:solidFill>
                <a:latin typeface="Calibri"/>
              </a:rPr>
              <a:t>4.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Equidad por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4187952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el índice manda el dinero a donde más se necesita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02920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292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1">
                <a:solidFill>
                  <a:srgbClr val="FFFFFF"/>
                </a:solidFill>
                <a:latin typeface="Calibri"/>
              </a:rPr>
              <a:t>“Una transición justa no se mide por el tamaño del cheque, sino por dónde aterriza.”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