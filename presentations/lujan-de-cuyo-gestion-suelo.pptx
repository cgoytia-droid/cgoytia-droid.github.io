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duro: crece 46% en doce años sobre 200 mm de lluvia. Cada hectárea que se urbaniza suma demanda de agua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resultado en una imagen: Ciudad y La Puntilla, ya consolidadas, puntúan alto; los distritos del oeste y el periurbano (Industrial, Vertientes, Cacheuta) puntúan bajo y son, por diseño, los primeros destinatarios de la inversión. Puntaje sobre 11 puntos.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tabla completa que sostiene el ranking: 11 subíndices por distrito, cada celda clasificada en Óptimo (verde), Mínimo (amarillo) o Crítico (rojo). El indicador 1.1 (infraestructura verde pública) queda pendiente por falta de datos. Es la tabla original del ejercicio piloto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honestidad del caso: sin regla, el dinero va a donde ya está bien. El ICD existe precisamente para forzar la corrección hacia los distritos D y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" y="6309360"/>
            <a:ext cx="11899087" cy="5486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6309360"/>
            <a:ext cx="5973775" cy="5486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CIPUV–UTDT · LINCOLN INSTITUTE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D0DA"/>
                </a:solidFill>
                <a:latin typeface="Calibri"/>
              </a:rPr>
              <a:t>LUJÁN DE CUYO · MENDOZA, ARGENTINA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D4C088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D8DDE4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02920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Caso: Mendoza, Argentina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5029200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5029200"/>
            <a:ext cx="3200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Enfoque: Land Value Capture + clima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5029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5029200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Clase · 30 minutos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~175.000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~200 mm de lluvia al año: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todo el sistema 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2F8F9D"/>
                </a:solidFill>
                <a:latin typeface="Calibri"/>
              </a:rPr>
              <a:t>+46%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crecimiento poblacional 2010–2022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D4C088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Gravarlo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Grava el aumento de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Grava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Grava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DIAGNÓSTICO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Ranking de prioridad por distrito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889519"/>
            <a:ext cx="758952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43032" y="1874519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177555"/>
            <a:ext cx="6505302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58814" y="2162555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2465591"/>
            <a:ext cx="4878977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2489" y="2450591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2753627"/>
            <a:ext cx="4878977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2489" y="2738627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3041663"/>
            <a:ext cx="4336868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0380" y="3026663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360" y="3329699"/>
            <a:ext cx="379476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14699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80360" y="3617735"/>
            <a:ext cx="379476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602735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360" y="3905771"/>
            <a:ext cx="379476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90771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80360" y="4193807"/>
            <a:ext cx="3252651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6163" y="4178807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4481843"/>
            <a:ext cx="3252651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6163" y="4466843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80360" y="4769879"/>
            <a:ext cx="3252651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06163" y="4754879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80360" y="5057915"/>
            <a:ext cx="271054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4054" y="5042915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80360" y="5345951"/>
            <a:ext cx="216843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1946" y="5330951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360" y="5633987"/>
            <a:ext cx="1626325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9837" y="5618987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880360" y="5922023"/>
            <a:ext cx="1084217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37729" y="5907023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98480" y="1874519"/>
            <a:ext cx="1280160" cy="457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652760" y="1965960"/>
            <a:ext cx="1325880" cy="196596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0" y="2148840"/>
            <a:ext cx="1097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4E5869"/>
                </a:solidFill>
                <a:latin typeface="Calibri"/>
              </a:rPr>
              <a:t>Puntaje /11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≥4  bien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2,5–3,9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&lt;2,5  déficit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4297680"/>
            <a:ext cx="3108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Menor puntaje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mayor 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de inversión.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SÍNTESIS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5869"/>
                </a:solidFill>
                <a:latin typeface="Calibri"/>
              </a:rPr>
              <a:t>Tabla Síntesis: los 11 subíndices por distrito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pic>
        <p:nvPicPr>
          <p:cNvPr id="12" name="Picture 11" descr="tabla-sintesis-infra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8286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0533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A828E"/>
                </a:solidFill>
                <a:latin typeface="Calibri"/>
              </a:rPr>
              <a:t>Cada indicador se pondera sobre 11 puntos: Óptimo 1 · Mínimo 0,5 · Crítico 0 · s/d computa 0.  </a:t>
            </a:r>
            <a:r>
              <a:rPr sz="1150" b="0" i="1">
                <a:solidFill>
                  <a:srgbClr val="6F7D94"/>
                </a:solidFill>
                <a:latin typeface="Calibri"/>
              </a:rPr>
              <a:t>Fuente: elaboración propia CIPUV–UTDT.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LA PRUEBA DE EQUIDAD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se necesita vs. dónde se invierte?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Las 2 mayores inversiones caen en distritos que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puntúan bien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verde.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Los más necesitados </a:t>
            </a:r>
            <a:r>
              <a:rPr sz="2100" b="1" i="0">
                <a:solidFill>
                  <a:srgbClr val="B1456A"/>
                </a:solidFill>
                <a:latin typeface="Calibri"/>
              </a:rPr>
              <a:t>(Vistalba, Las Compuertas, Industrial)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no reciben obra verde.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La palanca: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reasignar las microplazas (ARS 1.200 M) a distritos D/E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D4C088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