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Bienvenida. Un caso real de una ciudad intermedia que usa la gestión del suelo para financiar su propia adaptación climática. Hoy: seis instrumentos, un fideicomiso y una regla de gasto con equidad.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arco de la clase: del problema físico (agua-suelo) a una máquina financiera que captura valor, lo blinda y lo redistribuye con equidad.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Toda la clase cabe en cuatro verbos: capturar, blindar, apalancar, redistribuir. Si se recuerda esto, se recuerda el caso.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dato duro: crece 46% en doce años sobre 200 mm de lluvia. Cada hectárea que se urbaniza suma demanda de agua y resta recarga del acuífero.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mapa de la propia CIPUV: el crecimiento no es uniforme. Se concentra en el este, sobre el oasis regado del Gran Mendoza —justo el suelo cuya conversión dispara la paradoja agua–suelo. Fuente: elaboración propia en base a Municipalidad de Luján de Cuyo e INDEC.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corazón del caso. Una sola decisión —que otorga el propio Concejo— produce ganancia privada y costo colectivo. Ese diferencial de valor es el que puede pagar la adaptación.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fundamento teórico: la plusvalía del suelo es en buena parte no ganada. Gravarla es eficiente (no distorsiona) y justo. La novedad es acoplarla al financiamiento climático.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problema estructural: el capital climático premia a quien ya puede, no a quien más lo necesita. La única salida para una ciudad intermedia es traer su propia llave.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tesis central: el valor no está en cada instrumento, sino en encadenarlos. Crear → capturar → blindar → redistribuir → apalancar.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Vista general de los seis. No hace falta memorizarlos: lo importante es que cada uno engancha en un momento distinto del ciclo del desarrollo.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Instrumento clásico. Si el municipio hace la obra hídrica, captura parte de la valorización que esa obra crea. Se paga en cuotas para no golpear a los hogares de menores ingresos.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es el instrumento emblemático de la paradoja: la conversión de suelo permeable a impermeable genera el costo, y este mismo cargo captura el pago que lo financia.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Ya está operativo. 5.315 lotes, recaudación real estimada. Además del ingreso, empuja el relleno urbano en vez del sprawl: adaptación y forma urbana a la vez.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edificabilidad extra deja de ser un regalo del zoning y pasa a comprarse. El precio se referencia al mercado y premia el diseño eficiente en agua.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Dos instrumentos que orientan conducta, no sólo recaudan: el gradiente verde premia el diseño adaptado, y la TDR protege suelo estratégico sin gasto de compra.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evidencia más contundente. No es teoría: un cargo por conexión de servicios se multiplicó por 11 en cuatro años, en dólares constantes. Es la prueba de que el modelo escala.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Cuadro de referencia. Dos ya operativos (verde), el resto diseñados y listos. Nótese la diversidad de disparadores: cada uno cubre un momento distinto.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pregunta que todos se hacen. Es clave para desactivar el rumor de 'más impuestos': el aporte recae sobre baldíos ociosos y sobre quien desarrolla o rezonifica, no sobre la familia que habita su vivienda. Al contrario, esa familia puede recibir alivios.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fideicomiso es la pieza que convierte recaudación en credibilidad. Separado del presupuesto, auditado, con reglas de reparto fijas: eso es lo que un financista puede confiar.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respuesta a las dos preguntas del Concejo: ¿quién controla la plata? (auditoría, externo del Concejo, informe público) y ¿qué se ve el primer año? (microplazas en D/E, red hídrica, arbolado). Reglas claras y obras tempranas dan sostenibilidad política.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Cómo un peso local se convierte en muchos dólares globales: usar la recaudación como contrapartida, emitir deuda verde contra ella, y escalar hacia la banca multilateral.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regla de gasto es tan importante como la recaudación. El ICD mide seis dimensiones y dirige la inversión a los barrios peor puntuados. Es equidad convertida en algoritmo.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es el motor real del ICD: un tablero que puntúa cada distrito en seis ejes contra un valor deseado. No mide capacidad de pago, mide déficit. Es un ejercicio piloto de validación metodológica de la CIPUV.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Lectura correcta: la barra es la prioridad (mayor brecha = va primero), por eso Industrial encabeza y Ciudad queda al final. El número es el puntaje ICD de la Tabla Síntesis. Colores por tramo: verde líderes (6–7), amarillo intermedio (3–4,5), rojo déficit (≤2,5).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tabla completa que sostiene el ranking: 11 subíndices por distrito, cada celda clasificada en Óptimo (verde), Mínimo (amarillo) o Crítico (rojo). El indicador 1.1 (infraestructura verde pública) queda pendiente por falta de datos. Es la tabla original del ejercicio piloto CIPUV.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positivo: el valor que agrega el sistema es una regla que, de acá en adelante, dirige la inversión a los distritos con mayor déficit (D/E) en vez de a los que ya están bien.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escala en tres cifras: lo que ya hay, el potencial propio y la brecha que sólo cierra el apalancamiento. El fideicomiso es el puente entre la segunda y la tercera.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respuesta a la pregunta de examen: como el suelo es inelástico por el límite del agua, el impuesto no se traslada, recae en el dueño de la tierra. Es progresivo.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bonus: los mismos instrumentos que financian la adaptación también reducen emisiones. No hay que elegir entre adaptar y mitigar; aquí es la misma decisión.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Preguntas para abrir el debate. La primera y la última suelen dar la mejor discusión: incidencia del impuesto y sostenibilidad política.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Cierre. Cuatro ideas para llevarse y una frase: lo que define una transición justa no es cuánto dinero, sino dónde cae. Gracias.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42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92608" y="6309360"/>
            <a:ext cx="11899087" cy="54864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217920" y="6309360"/>
            <a:ext cx="5973775" cy="54864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7772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D4C088"/>
                </a:solidFill>
                <a:latin typeface="Calibri"/>
              </a:rPr>
              <a:t>CIPUV–UTDT · LINCOLN INSTITUTE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2344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9D0DA"/>
                </a:solidFill>
                <a:latin typeface="Calibri"/>
              </a:rPr>
              <a:t>LUJÁN DE CUYO · MENDOZA, ARGENTINA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65960"/>
            <a:ext cx="104241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5000" b="1" i="0">
                <a:solidFill>
                  <a:srgbClr val="FFFFFF"/>
                </a:solidFill>
                <a:latin typeface="Calibri"/>
              </a:rPr>
              <a:t>Innovación en gestión del suelo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5000" b="1" i="0">
                <a:solidFill>
                  <a:srgbClr val="D4C088"/>
                </a:solidFill>
                <a:latin typeface="Calibri"/>
              </a:rPr>
              <a:t>para financiar la adaptación climática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16052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1">
                <a:solidFill>
                  <a:srgbClr val="D8DDE4"/>
                </a:solidFill>
                <a:latin typeface="Calibri"/>
              </a:rPr>
              <a:t>Seis instrumentos de captura de valor · un Fideicomiso · el Índice de Ciudad Deseada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029200"/>
            <a:ext cx="2926080" cy="384048"/>
          </a:xfrm>
          <a:prstGeom prst="roundRect">
            <a:avLst>
              <a:gd name="adj" fmla="val 50000"/>
            </a:avLst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029200"/>
            <a:ext cx="29260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Caso: Mendoza, Argentina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5029200"/>
            <a:ext cx="3200400" cy="384048"/>
          </a:xfrm>
          <a:prstGeom prst="roundRect">
            <a:avLst>
              <a:gd name="adj" fmla="val 50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77639" y="5029200"/>
            <a:ext cx="32004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Enfoque: Land Value Capture + clima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60920" y="5029200"/>
            <a:ext cx="2743200" cy="384048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60920" y="5029200"/>
            <a:ext cx="27432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Clase · 30 minutos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8860B"/>
                </a:solidFill>
                <a:latin typeface="Calibri"/>
              </a:rPr>
              <a:t>HOJA DE RUTA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Lo que veremos en 30 minutos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53949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148840"/>
            <a:ext cx="109728" cy="105156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2148840"/>
            <a:ext cx="1005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2F8F9D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148840"/>
            <a:ext cx="38862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El contexto y la paradoja agua–suelo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36792" y="2148840"/>
            <a:ext cx="53949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36792" y="2148840"/>
            <a:ext cx="109728" cy="105156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148840"/>
            <a:ext cx="1005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B8860B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62672" y="2148840"/>
            <a:ext cx="38862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La idea: captura de valor del suelo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456432"/>
            <a:ext cx="53949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3456432"/>
            <a:ext cx="109728" cy="105156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8408" y="3456432"/>
            <a:ext cx="1005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B1456A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3456432"/>
            <a:ext cx="38862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Los seis instrumentos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36792" y="3456432"/>
            <a:ext cx="53949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36792" y="3456432"/>
            <a:ext cx="109728" cy="1051560"/>
          </a:xfrm>
          <a:prstGeom prst="rect">
            <a:avLst/>
          </a:prstGeom>
          <a:solidFill>
            <a:srgbClr val="4E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3456432"/>
            <a:ext cx="1005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4E5869"/>
                </a:solidFill>
                <a:latin typeface="Calibr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62672" y="3456432"/>
            <a:ext cx="38862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La arquitectura: Banco + Fondo + Fideicomiso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764024"/>
            <a:ext cx="53949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" y="4764024"/>
            <a:ext cx="109728" cy="105156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8408" y="4764024"/>
            <a:ext cx="1005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5A8F6B"/>
                </a:solidFill>
                <a:latin typeface="Calibr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1680" y="4764024"/>
            <a:ext cx="38862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La regla de gasto: Índice de Ciudad Deseada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36792" y="4764024"/>
            <a:ext cx="53949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36792" y="4764024"/>
            <a:ext cx="109728" cy="105156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29400" y="4764024"/>
            <a:ext cx="1005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B8860B"/>
                </a:solidFill>
                <a:latin typeface="Calibri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62672" y="4764024"/>
            <a:ext cx="38862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Números, equidad y co-beneficios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02 / 31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8860B"/>
                </a:solidFill>
                <a:latin typeface="Calibri"/>
              </a:rPr>
              <a:t>LA IDEA EN UNA FRASE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Cuatro verbos, un sistema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331720"/>
            <a:ext cx="2606040" cy="2834640"/>
          </a:xfrm>
          <a:prstGeom prst="roundRect">
            <a:avLst>
              <a:gd name="adj" fmla="val 6000"/>
            </a:avLst>
          </a:prstGeom>
          <a:solidFill>
            <a:srgbClr val="E7F1F3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2606040" cy="7620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F8F9D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324612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F8F9D"/>
                </a:solidFill>
                <a:latin typeface="Calibri"/>
              </a:rPr>
              <a:t>Capturar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3931920"/>
            <a:ext cx="2148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la plusvalía que genera el propio desarrollo urbano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47872" y="2331720"/>
            <a:ext cx="2606040" cy="2834640"/>
          </a:xfrm>
          <a:prstGeom prst="roundRect">
            <a:avLst>
              <a:gd name="adj" fmla="val 6000"/>
            </a:avLst>
          </a:prstGeom>
          <a:solidFill>
            <a:srgbClr val="ECEEF1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47872" y="2331720"/>
            <a:ext cx="2606040" cy="76200"/>
          </a:xfrm>
          <a:prstGeom prst="rect">
            <a:avLst/>
          </a:prstGeom>
          <a:solidFill>
            <a:srgbClr val="4E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03904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4E5869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3904" y="324612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4E5869"/>
                </a:solidFill>
                <a:latin typeface="Calibri"/>
              </a:rPr>
              <a:t>Blindar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03904" y="3931920"/>
            <a:ext cx="2148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los recursos en un fideicomiso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9944" y="2331720"/>
            <a:ext cx="2606040" cy="2834640"/>
          </a:xfrm>
          <a:prstGeom prst="roundRect">
            <a:avLst>
              <a:gd name="adj" fmla="val 6000"/>
            </a:avLst>
          </a:prstGeom>
          <a:solidFill>
            <a:srgbClr val="F6F0E0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9944" y="2331720"/>
            <a:ext cx="2606040" cy="762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5976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B8860B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5976" y="324612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B8860B"/>
                </a:solidFill>
                <a:latin typeface="Calibri"/>
              </a:rPr>
              <a:t>Apalancar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65976" y="3931920"/>
            <a:ext cx="2148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financiamiento climático internacional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72016" y="2331720"/>
            <a:ext cx="2606040" cy="2834640"/>
          </a:xfrm>
          <a:prstGeom prst="roundRect">
            <a:avLst>
              <a:gd name="adj" fmla="val 6000"/>
            </a:avLst>
          </a:prstGeom>
          <a:solidFill>
            <a:srgbClr val="E7F0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72016" y="2331720"/>
            <a:ext cx="2606040" cy="7620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28048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5A8F6B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28048" y="324612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5A8F6B"/>
                </a:solidFill>
                <a:latin typeface="Calibri"/>
              </a:rPr>
              <a:t>Redistribuir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28048" y="3931920"/>
            <a:ext cx="2148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con equidad, hacia donde más se necesita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03 / 31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F8F9D"/>
                </a:solidFill>
                <a:latin typeface="Calibri"/>
              </a:rPr>
              <a:t>EL CONTEXTO ·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Una ciudad que crece con </a:t>
            </a:r>
            <a:r>
              <a:rPr sz="3600" b="1" i="0">
                <a:solidFill>
                  <a:srgbClr val="2F8F9D"/>
                </a:solidFill>
                <a:latin typeface="Calibri"/>
              </a:rPr>
              <a:t>presupuesto de agua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74066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100" b="1" i="0">
                <a:solidFill>
                  <a:srgbClr val="2B3038"/>
                </a:solidFill>
                <a:latin typeface="Calibri"/>
              </a:rPr>
              <a:t>~175.000 habitantes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 en un oasis semiárido al pie de los Andes.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100" b="1" i="0">
                <a:solidFill>
                  <a:srgbClr val="2B3038"/>
                </a:solidFill>
                <a:latin typeface="Calibri"/>
              </a:rPr>
              <a:t>~200 mm de lluvia al año: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 todo el sistema depende del deshielo andino.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100" b="1" i="0">
                <a:solidFill>
                  <a:srgbClr val="2B3038"/>
                </a:solidFill>
                <a:latin typeface="Calibri"/>
              </a:rPr>
              <a:t>Dos tendencias en colisión: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 menos nieve, más urbanización del periurbano regado.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49640" y="2240280"/>
            <a:ext cx="28346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49640" y="2240280"/>
            <a:ext cx="2834640" cy="6350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50808" y="2459736"/>
            <a:ext cx="2432304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5200" b="1" i="0">
                <a:solidFill>
                  <a:srgbClr val="2F8F9D"/>
                </a:solidFill>
                <a:latin typeface="Calibri"/>
              </a:rPr>
              <a:t>+46%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4E5869"/>
                </a:solidFill>
                <a:latin typeface="Calibri"/>
              </a:rPr>
              <a:t>crecimiento poblacional 2010–2022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04 / 31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F8F9D"/>
                </a:solidFill>
                <a:latin typeface="Calibri"/>
              </a:rPr>
              <a:t>EL CONTEXTO ·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¿Dónde crece Luján de Cuyo?</a:t>
            </a:r>
          </a:p>
        </p:txBody>
      </p:sp>
      <p:pic>
        <p:nvPicPr>
          <p:cNvPr id="6" name="Picture 5" descr="mapa-poblacion-luj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1783080"/>
            <a:ext cx="6309360" cy="445949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15000" y="6262575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7A828E"/>
                </a:solidFill>
                <a:latin typeface="Calibri"/>
              </a:rPr>
              <a:t>Población por distrito, 2022 · Gran Mendoza y Luján de Cuyo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65960"/>
            <a:ext cx="48006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19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1900" b="1" i="0">
                <a:solidFill>
                  <a:srgbClr val="2B3038"/>
                </a:solidFill>
                <a:latin typeface="Calibri"/>
              </a:rPr>
              <a:t>Carrodilla (30.469) y Perdriel (24.922)</a:t>
            </a:r>
            <a:r>
              <a:rPr sz="1900" b="0" i="0">
                <a:solidFill>
                  <a:srgbClr val="2B3038"/>
                </a:solidFill>
                <a:latin typeface="Calibri"/>
              </a:rPr>
              <a:t> concentran el mayor tamaño y crecimiento.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19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1900" b="0" i="0">
                <a:solidFill>
                  <a:srgbClr val="2B3038"/>
                </a:solidFill>
                <a:latin typeface="Calibri"/>
              </a:rPr>
              <a:t>El avance urbano ocurre sobre el </a:t>
            </a:r>
            <a:r>
              <a:rPr sz="1900" b="1" i="0">
                <a:solidFill>
                  <a:srgbClr val="2F8F9D"/>
                </a:solidFill>
                <a:latin typeface="Calibri"/>
              </a:rPr>
              <a:t>periurbano regado</a:t>
            </a:r>
            <a:r>
              <a:rPr sz="1900" b="0" i="0">
                <a:solidFill>
                  <a:srgbClr val="2B3038"/>
                </a:solidFill>
                <a:latin typeface="Calibri"/>
              </a:rPr>
              <a:t>: Chacras, Vistalba, Vertientes.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19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1900" b="0" i="0">
                <a:solidFill>
                  <a:srgbClr val="2B3038"/>
                </a:solidFill>
                <a:latin typeface="Calibri"/>
              </a:rPr>
              <a:t>Cada distrito que crece </a:t>
            </a:r>
            <a:r>
              <a:rPr sz="1900" b="1" i="0">
                <a:solidFill>
                  <a:srgbClr val="5A8F6B"/>
                </a:solidFill>
                <a:latin typeface="Calibri"/>
              </a:rPr>
              <a:t>urbaniza suelo con derecho de agua</a:t>
            </a:r>
            <a:r>
              <a:rPr sz="1900" b="0" i="0">
                <a:solidFill>
                  <a:srgbClr val="2B3038"/>
                </a:solidFill>
                <a:latin typeface="Calibri"/>
              </a:rPr>
              <a:t> → más demanda, menos recarga.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4709160"/>
            <a:ext cx="48006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4709160"/>
            <a:ext cx="4800600" cy="6350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4928616"/>
            <a:ext cx="4398264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2F8F9D"/>
                </a:solidFill>
                <a:latin typeface="Calibri"/>
              </a:rPr>
              <a:t>+42,6%  ·  +50.546 hab.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crecimiento intercensal 2010–2022 en Luján de Cuyo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05 / 31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1456A"/>
                </a:solidFill>
                <a:latin typeface="Calibri"/>
              </a:rPr>
              <a:t>EL PROBLEMA ·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La paradoja agua–suelo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94560"/>
            <a:ext cx="5212080" cy="2286000"/>
          </a:xfrm>
          <a:prstGeom prst="roundRect">
            <a:avLst>
              <a:gd name="adj" fmla="val 5000"/>
            </a:avLst>
          </a:prstGeom>
          <a:solidFill>
            <a:srgbClr val="E7F1F3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42316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F8F9D"/>
                </a:solidFill>
                <a:latin typeface="Calibri"/>
              </a:rPr>
              <a:t>GANANCIA PRIVADA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971800"/>
            <a:ext cx="46634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2B3038"/>
                </a:solidFill>
                <a:latin typeface="Calibri"/>
              </a:rPr>
              <a:t>Rezonificar un viñedo a loteo multiplica su valor varias veces.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94560"/>
            <a:ext cx="5212080" cy="2286000"/>
          </a:xfrm>
          <a:prstGeom prst="roundRect">
            <a:avLst>
              <a:gd name="adj" fmla="val 5000"/>
            </a:avLst>
          </a:prstGeom>
          <a:solidFill>
            <a:srgbClr val="F1E6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42316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1456A"/>
                </a:solidFill>
                <a:latin typeface="Calibri"/>
              </a:rPr>
              <a:t>COSTO COLECTIVO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971800"/>
            <a:ext cx="46634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2B3038"/>
                </a:solidFill>
                <a:latin typeface="Calibri"/>
              </a:rPr>
              <a:t>El mismo acto sella el suelo, elimina recarga, sube la demanda de agua y borra el sumidero de carbono.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800600"/>
            <a:ext cx="10789920" cy="1051560"/>
          </a:xfrm>
          <a:prstGeom prst="roundRect">
            <a:avLst>
              <a:gd name="adj" fmla="val 8000"/>
            </a:avLst>
          </a:prstGeom>
          <a:solidFill>
            <a:srgbClr val="3A42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800600"/>
            <a:ext cx="10149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FFFFF"/>
                </a:solidFill>
                <a:latin typeface="Calibri"/>
              </a:rPr>
              <a:t>→  El incremento de valor es la base natural para financiar la adaptación: </a:t>
            </a:r>
            <a:r>
              <a:rPr sz="2000" b="1" i="0">
                <a:solidFill>
                  <a:srgbClr val="D4C088"/>
                </a:solidFill>
                <a:latin typeface="Calibri"/>
              </a:rPr>
              <a:t>quien causa el costo, financia la respuesta.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06 / 31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8860B"/>
                </a:solidFill>
                <a:latin typeface="Calibri"/>
              </a:rPr>
              <a:t>EL MARCO ·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¿Qué es la captura de valor del suelo?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106070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El precio del suelo capitaliza la inversión pública, la regulación y el crecimiento.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Buena parte de ese incremento es </a:t>
            </a:r>
            <a:r>
              <a:rPr sz="2100" b="1" i="0">
                <a:solidFill>
                  <a:srgbClr val="B8860B"/>
                </a:solidFill>
                <a:latin typeface="Calibri"/>
              </a:rPr>
              <a:t>«no ganado»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 por el propietario (George; Glaeser; Duranton &amp; Puga).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Recuperarlo para la ciudad es </a:t>
            </a:r>
            <a:r>
              <a:rPr sz="2100" b="1" i="0">
                <a:solidFill>
                  <a:srgbClr val="5A8F6B"/>
                </a:solidFill>
                <a:latin typeface="Calibri"/>
              </a:rPr>
              <a:t>eficiente y justo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: recae sobre una ganancia que no produjo quien la recibe.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394960"/>
            <a:ext cx="10698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7A828E"/>
                </a:solidFill>
                <a:latin typeface="Calibri"/>
              </a:rPr>
              <a:t>Tradición latinoamericana: valorización (Colombia), CEPACs (São Paulo), Estatuto de la Ciudad (Brasil). </a:t>
            </a:r>
            <a:r>
              <a:rPr sz="1500" b="0" i="1">
                <a:solidFill>
                  <a:srgbClr val="6F7D94"/>
                </a:solidFill>
                <a:latin typeface="Calibri"/>
              </a:rPr>
              <a:t>La brecha que este caso cierra: unir la LVC con el financiamiento climático (Dunning &amp; Lord, 2020).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07 / 31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8860B"/>
                </a:solidFill>
                <a:latin typeface="Calibri"/>
              </a:rPr>
              <a:t>POR QUÉ IMPORTA ·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El dinero sigue la </a:t>
            </a:r>
            <a:r>
              <a:rPr sz="3600" b="1" i="0">
                <a:solidFill>
                  <a:srgbClr val="B1456A"/>
                </a:solidFill>
                <a:latin typeface="Calibri"/>
              </a:rPr>
              <a:t>capacidad</a:t>
            </a:r>
            <a:r>
              <a:rPr sz="3600" b="1" i="0">
                <a:solidFill>
                  <a:srgbClr val="4E5869"/>
                </a:solidFill>
                <a:latin typeface="Calibri"/>
              </a:rPr>
              <a:t>, no la </a:t>
            </a:r>
            <a:r>
              <a:rPr sz="3600" b="1" i="0">
                <a:solidFill>
                  <a:srgbClr val="5A8F6B"/>
                </a:solidFill>
                <a:latin typeface="Calibri"/>
              </a:rPr>
              <a:t>necesidad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240280"/>
            <a:ext cx="329184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240280"/>
            <a:ext cx="3291840" cy="6350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2459736"/>
            <a:ext cx="2889504" cy="274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B1456A"/>
                </a:solidFill>
                <a:latin typeface="Calibri"/>
              </a:rPr>
              <a:t>USD 147
mil M/año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4E5869"/>
                </a:solidFill>
                <a:latin typeface="Calibri"/>
              </a:rPr>
              <a:t>de adaptación que necesitan las ciudades en desarrollo a 2030 (CCFLA, 2024)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2286000"/>
            <a:ext cx="70408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El financiamiento fluye a las metrópolis con más capacidad, no a las más expuestas (Clifton et al., 2025).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Las ciudades intermedias quedan atrapadas: </a:t>
            </a:r>
            <a:r>
              <a:rPr sz="2000" b="1" i="0">
                <a:solidFill>
                  <a:srgbClr val="B1456A"/>
                </a:solidFill>
                <a:latin typeface="Calibri"/>
              </a:rPr>
              <a:t>sin capacidad no acceden; sin acceso no construyen capacidad.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La salida: </a:t>
            </a:r>
            <a:r>
              <a:rPr sz="2000" b="1" i="0">
                <a:solidFill>
                  <a:srgbClr val="5A8F6B"/>
                </a:solidFill>
                <a:latin typeface="Calibri"/>
              </a:rPr>
              <a:t>generar recurso propio, predecible y blindado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— la «llave» que pide el financista.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08 / 31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8860B"/>
                </a:solidFill>
                <a:latin typeface="Calibri"/>
              </a:rPr>
              <a:t>LA INNOVACIÓN ·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Un sistema, no instrumentos sueltos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651760"/>
            <a:ext cx="196596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651760"/>
            <a:ext cx="1965960" cy="7620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2907792"/>
            <a:ext cx="16367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3364992"/>
            <a:ext cx="16367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Crear valor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3822192"/>
            <a:ext cx="1636776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F7D94"/>
                </a:solidFill>
                <a:latin typeface="Calibri"/>
              </a:rPr>
              <a:t>obra · rezonificación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33472" y="2651760"/>
            <a:ext cx="27432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2651760"/>
            <a:ext cx="196596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834640" y="2651760"/>
            <a:ext cx="1965960" cy="762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99232" y="2907792"/>
            <a:ext cx="16367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99232" y="3364992"/>
            <a:ext cx="16367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Capturar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9232" y="3822192"/>
            <a:ext cx="1636776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F7D94"/>
                </a:solidFill>
                <a:latin typeface="Calibri"/>
              </a:rPr>
              <a:t>6 instrumentos LVC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82312" y="2651760"/>
            <a:ext cx="27432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83480" y="2651760"/>
            <a:ext cx="196596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83480" y="2651760"/>
            <a:ext cx="1965960" cy="76200"/>
          </a:xfrm>
          <a:prstGeom prst="rect">
            <a:avLst/>
          </a:prstGeom>
          <a:solidFill>
            <a:srgbClr val="4E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48072" y="2907792"/>
            <a:ext cx="16367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4E5869"/>
                </a:solidFill>
                <a:latin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48072" y="3364992"/>
            <a:ext cx="16367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Blindar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8072" y="3822192"/>
            <a:ext cx="1636776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F7D94"/>
                </a:solidFill>
                <a:latin typeface="Calibri"/>
              </a:rPr>
              <a:t>Banco + Fondo + Fideicomiso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1152" y="2651760"/>
            <a:ext cx="27432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0" y="2651760"/>
            <a:ext cx="196596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132320" y="2651760"/>
            <a:ext cx="1965960" cy="7620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96912" y="2907792"/>
            <a:ext cx="16367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5A8F6B"/>
                </a:solidFill>
                <a:latin typeface="Calibri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6912" y="3364992"/>
            <a:ext cx="16367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Redistribuir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96912" y="3822192"/>
            <a:ext cx="1636776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F7D94"/>
                </a:solidFill>
                <a:latin typeface="Calibri"/>
              </a:rPr>
              <a:t>Índice de Ciudad Deseada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79992" y="2651760"/>
            <a:ext cx="27432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281160" y="2651760"/>
            <a:ext cx="196596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281160" y="2651760"/>
            <a:ext cx="1965960" cy="7620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45752" y="2907792"/>
            <a:ext cx="16367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1456A"/>
                </a:solidFill>
                <a:latin typeface="Calibri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5752" y="3364992"/>
            <a:ext cx="16367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Apalancar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45752" y="3822192"/>
            <a:ext cx="1636776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F7D94"/>
                </a:solidFill>
                <a:latin typeface="Calibri"/>
              </a:rPr>
              <a:t>bono verde · multilaterales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4892040"/>
            <a:ext cx="107899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2B3038"/>
                </a:solidFill>
                <a:latin typeface="Calibri"/>
              </a:rPr>
              <a:t>La coordinación es lo que convierte 6 cargos modestos en un </a:t>
            </a:r>
            <a:r>
              <a:rPr sz="2000" b="1" i="0">
                <a:solidFill>
                  <a:srgbClr val="B8860B"/>
                </a:solidFill>
                <a:latin typeface="Calibri"/>
              </a:rPr>
              <a:t>sistema bancable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09 / 31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42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005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D4C088"/>
                </a:solidFill>
                <a:latin typeface="Calibri"/>
              </a:rPr>
              <a:t>SECCIÓN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Los seis instrumentos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60604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1">
                <a:solidFill>
                  <a:srgbClr val="CFD5DE"/>
                </a:solidFill>
                <a:latin typeface="Calibri"/>
              </a:rPr>
              <a:t>Cada uno captura el incremento de valor en un punto distinto del ciclo de desarrollo.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3566160"/>
            <a:ext cx="3429000" cy="868680"/>
          </a:xfrm>
          <a:prstGeom prst="roundRect">
            <a:avLst>
              <a:gd name="adj" fmla="val 10000"/>
            </a:avLst>
          </a:prstGeom>
          <a:solidFill>
            <a:srgbClr val="454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3566160"/>
            <a:ext cx="640080" cy="868680"/>
          </a:xfrm>
          <a:prstGeom prst="roundRect">
            <a:avLst>
              <a:gd name="adj" fmla="val 10000"/>
            </a:avLst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566160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3566160"/>
            <a:ext cx="2514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Contribución por Mejoras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53712" y="3566160"/>
            <a:ext cx="3429000" cy="868680"/>
          </a:xfrm>
          <a:prstGeom prst="roundRect">
            <a:avLst>
              <a:gd name="adj" fmla="val 10000"/>
            </a:avLst>
          </a:prstGeom>
          <a:solidFill>
            <a:srgbClr val="454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53712" y="3566160"/>
            <a:ext cx="640080" cy="868680"/>
          </a:xfrm>
          <a:prstGeom prst="roundRect">
            <a:avLst>
              <a:gd name="adj" fmla="val 10000"/>
            </a:avLst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3566160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0952" y="3566160"/>
            <a:ext cx="2514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Participación en Valoración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38744" y="3566160"/>
            <a:ext cx="3429000" cy="868680"/>
          </a:xfrm>
          <a:prstGeom prst="roundRect">
            <a:avLst>
              <a:gd name="adj" fmla="val 10000"/>
            </a:avLst>
          </a:prstGeom>
          <a:solidFill>
            <a:srgbClr val="454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38744" y="3566160"/>
            <a:ext cx="640080" cy="868680"/>
          </a:xfrm>
          <a:prstGeom prst="roundRect">
            <a:avLst>
              <a:gd name="adj" fmla="val 10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8744" y="3566160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15984" y="3566160"/>
            <a:ext cx="2514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Sobretasa a baldíos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" y="4672584"/>
            <a:ext cx="3429000" cy="868680"/>
          </a:xfrm>
          <a:prstGeom prst="roundRect">
            <a:avLst>
              <a:gd name="adj" fmla="val 10000"/>
            </a:avLst>
          </a:prstGeom>
          <a:solidFill>
            <a:srgbClr val="454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68680" y="4672584"/>
            <a:ext cx="640080" cy="868680"/>
          </a:xfrm>
          <a:prstGeom prst="roundRect">
            <a:avLst>
              <a:gd name="adj" fmla="val 1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672584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4672584"/>
            <a:ext cx="2514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Suelo Creado / DCA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53712" y="4672584"/>
            <a:ext cx="3429000" cy="868680"/>
          </a:xfrm>
          <a:prstGeom prst="roundRect">
            <a:avLst>
              <a:gd name="adj" fmla="val 10000"/>
            </a:avLst>
          </a:prstGeom>
          <a:solidFill>
            <a:srgbClr val="454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553712" y="4672584"/>
            <a:ext cx="640080" cy="868680"/>
          </a:xfrm>
          <a:prstGeom prst="roundRect">
            <a:avLst>
              <a:gd name="adj" fmla="val 1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53712" y="4672584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0952" y="4672584"/>
            <a:ext cx="2514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Incentivos fiscales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38744" y="4672584"/>
            <a:ext cx="3429000" cy="868680"/>
          </a:xfrm>
          <a:prstGeom prst="roundRect">
            <a:avLst>
              <a:gd name="adj" fmla="val 10000"/>
            </a:avLst>
          </a:prstGeom>
          <a:solidFill>
            <a:srgbClr val="454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238744" y="4672584"/>
            <a:ext cx="640080" cy="868680"/>
          </a:xfrm>
          <a:prstGeom prst="roundRect">
            <a:avLst>
              <a:gd name="adj" fmla="val 10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38744" y="4672584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15984" y="4672584"/>
            <a:ext cx="2514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Transferencia de Derechos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F8F9D"/>
                </a:solidFill>
                <a:latin typeface="Calibri"/>
              </a:rPr>
              <a:t>INSTRUMENTO 1 ·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Contribución por Mejoras (betterment)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1371600" cy="1371600"/>
          </a:xfrm>
          <a:prstGeom prst="roundRect">
            <a:avLst>
              <a:gd name="adj" fmla="val 14000"/>
            </a:avLst>
          </a:prstGeom>
          <a:solidFill>
            <a:srgbClr val="2F8F9D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14884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70332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6F7D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703320"/>
            <a:ext cx="1371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DISEÑADO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2148840"/>
            <a:ext cx="9052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Recupera parte del mayor valor que una </a:t>
            </a:r>
            <a:r>
              <a:rPr sz="2000" b="1" i="0">
                <a:solidFill>
                  <a:srgbClr val="2F8F9D"/>
                </a:solidFill>
                <a:latin typeface="Calibri"/>
              </a:rPr>
              <a:t>obra pública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genera en los inmuebles vecinos.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Tasa: </a:t>
            </a:r>
            <a:r>
              <a:rPr sz="2000" b="1" i="0">
                <a:solidFill>
                  <a:srgbClr val="B8860B"/>
                </a:solidFill>
                <a:latin typeface="Calibri"/>
              </a:rPr>
              <a:t>30–50% del incremento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en una «zona de beneficio» delimitada por SIG.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Doble función: </a:t>
            </a:r>
            <a:r>
              <a:rPr sz="2000" b="1" i="0">
                <a:solidFill>
                  <a:srgbClr val="5A8F6B"/>
                </a:solidFill>
                <a:latin typeface="Calibri"/>
              </a:rPr>
              <a:t>financia la obra hídrica y demuestra, en efectivo, que rindió.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11 / 31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F8F9D"/>
                </a:solidFill>
                <a:latin typeface="Calibri"/>
              </a:rPr>
              <a:t>INSTRUMENTO 2 ·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Participación en la Valoración de Activos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1371600" cy="1371600"/>
          </a:xfrm>
          <a:prstGeom prst="roundRect">
            <a:avLst>
              <a:gd name="adj" fmla="val 14000"/>
            </a:avLst>
          </a:prstGeom>
          <a:solidFill>
            <a:srgbClr val="2F8F9D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14884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70332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6F7D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703320"/>
            <a:ext cx="1371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DISEÑADO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2148840"/>
            <a:ext cx="9052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Recupera parte de la plusvalía por </a:t>
            </a:r>
            <a:r>
              <a:rPr sz="2000" b="1" i="0">
                <a:solidFill>
                  <a:srgbClr val="2F8F9D"/>
                </a:solidFill>
                <a:latin typeface="Calibri"/>
              </a:rPr>
              <a:t>rezonificación o mayor intensidad de uso.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Tasa: </a:t>
            </a:r>
            <a:r>
              <a:rPr sz="2000" b="1" i="0">
                <a:solidFill>
                  <a:srgbClr val="B8860B"/>
                </a:solidFill>
                <a:latin typeface="Calibri"/>
              </a:rPr>
              <a:t>30–50% del diferencial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de valor antes / después.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Es la lógica del sistema en miniatura: </a:t>
            </a:r>
            <a:r>
              <a:rPr sz="2000" b="1" i="0">
                <a:solidFill>
                  <a:srgbClr val="5A8F6B"/>
                </a:solidFill>
                <a:latin typeface="Calibri"/>
              </a:rPr>
              <a:t>el acto que genera el costo es el que paga la respuesta.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12 / 31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A8F6B"/>
                </a:solidFill>
                <a:latin typeface="Calibri"/>
              </a:rPr>
              <a:t>INSTRUMENTO 3 ·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Sobretasa a Inmueble Ocioso (baldíos)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1371600" cy="1371600"/>
          </a:xfrm>
          <a:prstGeom prst="roundRect">
            <a:avLst>
              <a:gd name="adj" fmla="val 14000"/>
            </a:avLst>
          </a:prstGeom>
          <a:solidFill>
            <a:srgbClr val="5A8F6B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14884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70332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703320"/>
            <a:ext cx="1371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● OPERATIVO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2148840"/>
            <a:ext cx="60350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5A8F6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Aporte de las parcelas </a:t>
            </a:r>
            <a:r>
              <a:rPr sz="2000" b="1" i="0">
                <a:solidFill>
                  <a:srgbClr val="5A8F6B"/>
                </a:solidFill>
                <a:latin typeface="Calibri"/>
              </a:rPr>
              <a:t>servidas pero ociosas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dentro del perímetro urbano.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5A8F6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Recargo progresivo: </a:t>
            </a:r>
            <a:r>
              <a:rPr sz="2000" b="1" i="0">
                <a:solidFill>
                  <a:srgbClr val="B8860B"/>
                </a:solidFill>
                <a:latin typeface="Calibri"/>
              </a:rPr>
              <a:t>+100%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estándar y </a:t>
            </a:r>
            <a:r>
              <a:rPr sz="2000" b="1" i="0">
                <a:solidFill>
                  <a:srgbClr val="B1456A"/>
                </a:solidFill>
                <a:latin typeface="Calibri"/>
              </a:rPr>
              <a:t>+200%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en vacíos prioritarios.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5A8F6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Promueve el </a:t>
            </a:r>
            <a:r>
              <a:rPr sz="2000" b="1" i="0">
                <a:solidFill>
                  <a:srgbClr val="5A8F6B"/>
                </a:solidFill>
                <a:latin typeface="Calibri"/>
              </a:rPr>
              <a:t>desarrollo compacto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usando el padrón que ya existe.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0" y="2240280"/>
            <a:ext cx="26974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0" y="2240280"/>
            <a:ext cx="2697480" cy="6350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87968" y="2459736"/>
            <a:ext cx="2295144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5A8F6B"/>
                </a:solidFill>
                <a:latin typeface="Calibri"/>
              </a:rPr>
              <a:t>5.315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4E5869"/>
                </a:solidFill>
                <a:latin typeface="Calibri"/>
              </a:rPr>
              <a:t>lotes alcanzados (2026)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0" y="3657600"/>
            <a:ext cx="26974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0" y="3657600"/>
            <a:ext cx="2697480" cy="635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87968" y="3877056"/>
            <a:ext cx="2295144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B8860B"/>
                </a:solidFill>
                <a:latin typeface="Calibri"/>
              </a:rPr>
              <a:t>~ARS 345 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4E5869"/>
                </a:solidFill>
                <a:latin typeface="Calibri"/>
              </a:rPr>
              <a:t>/año  ≈ USD 277.500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13 / 31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8860B"/>
                </a:solidFill>
                <a:latin typeface="Calibri"/>
              </a:rPr>
              <a:t>INSTRUMENTO 4 ·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Suelo Creado / Derechos de Construcción Adicional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1371600" cy="1371600"/>
          </a:xfrm>
          <a:prstGeom prst="roundRect">
            <a:avLst>
              <a:gd name="adj" fmla="val 14000"/>
            </a:avLst>
          </a:prstGeom>
          <a:solidFill>
            <a:srgbClr val="B8860B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14884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70332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6F7D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703320"/>
            <a:ext cx="1371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DISEÑADO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2148840"/>
            <a:ext cx="9052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Vende el </a:t>
            </a:r>
            <a:r>
              <a:rPr sz="2000" b="1" i="0">
                <a:solidFill>
                  <a:srgbClr val="2F8F9D"/>
                </a:solidFill>
                <a:latin typeface="Calibri"/>
              </a:rPr>
              <a:t>derecho a construir por encima de una «línea de base».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Modelo </a:t>
            </a:r>
            <a:r>
              <a:rPr sz="2000" b="1" i="0">
                <a:solidFill>
                  <a:srgbClr val="B8860B"/>
                </a:solidFill>
                <a:latin typeface="Calibri"/>
              </a:rPr>
              <a:t>CEPAC (São Paulo)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adaptado a ciudad intermedia.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COS 2026: de 10 m a </a:t>
            </a:r>
            <a:r>
              <a:rPr sz="2000" b="1" i="0">
                <a:solidFill>
                  <a:srgbClr val="B1456A"/>
                </a:solidFill>
                <a:latin typeface="Calibri"/>
              </a:rPr>
              <a:t>36 m (~8,7 pisos extra)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sólo vía compra; bonos por eficiencia hídrica.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14 / 31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8860B"/>
                </a:solidFill>
                <a:latin typeface="Calibri"/>
              </a:rPr>
              <a:t>INSTRUMENTOS 5 Y 6 ·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Incentivos fiscales · Transferencia de Derechos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94560"/>
            <a:ext cx="5303520" cy="3291840"/>
          </a:xfrm>
          <a:prstGeom prst="roundRect">
            <a:avLst>
              <a:gd name="adj" fmla="val 5000"/>
            </a:avLst>
          </a:prstGeom>
          <a:solidFill>
            <a:srgbClr val="E7F0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194560"/>
            <a:ext cx="5303520" cy="7620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05840" y="2514600"/>
            <a:ext cx="822960" cy="822960"/>
          </a:xfrm>
          <a:prstGeom prst="roundRect">
            <a:avLst>
              <a:gd name="adj" fmla="val 16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51460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2606040"/>
            <a:ext cx="374903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5A8F6B"/>
                </a:solidFill>
                <a:latin typeface="Calibri"/>
              </a:rPr>
              <a:t>Incentivos fiscales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657600"/>
            <a:ext cx="461772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B3038"/>
                </a:solidFill>
                <a:latin typeface="Calibri"/>
              </a:rPr>
              <a:t>Un «gradiente verde»: descuentos por eficiencia hídrica, permeabilidad y arbolado. Sin adaptación, cargo pleno; con adaptación, alivio fiscal.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2194560"/>
            <a:ext cx="5303520" cy="3291840"/>
          </a:xfrm>
          <a:prstGeom prst="roundRect">
            <a:avLst>
              <a:gd name="adj" fmla="val 5000"/>
            </a:avLst>
          </a:prstGeom>
          <a:solidFill>
            <a:srgbClr val="E7F1F3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2194560"/>
            <a:ext cx="5303520" cy="7620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0" y="2514600"/>
            <a:ext cx="822960" cy="822960"/>
          </a:xfrm>
          <a:prstGeom prst="roundRect">
            <a:avLst>
              <a:gd name="adj" fmla="val 16000"/>
            </a:avLst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51460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2606040"/>
            <a:ext cx="374903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F8F9D"/>
                </a:solidFill>
                <a:latin typeface="Calibri"/>
              </a:rPr>
              <a:t>Transferencia de Derechos (TDR)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657600"/>
            <a:ext cx="461772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B3038"/>
                </a:solidFill>
                <a:latin typeface="Calibri"/>
              </a:rPr>
              <a:t>Proteger recarga, riberas y agro sin comprar el suelo: las zonas emisoras venden sus derechos a zonas receptoras vía mercado.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15 / 31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42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85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D4C088"/>
                </a:solidFill>
                <a:latin typeface="Calibri"/>
              </a:rPr>
              <a:t>(+) EL INSTRUMENTO ESTRELLA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14300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Aporte de Agua y Cloaca — la evidencia más fuerte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05740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57400"/>
            <a:ext cx="14630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● OPERATIVO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880360"/>
            <a:ext cx="3108960" cy="2103120"/>
          </a:xfrm>
          <a:prstGeom prst="roundRect">
            <a:avLst>
              <a:gd name="adj" fmla="val 6000"/>
            </a:avLst>
          </a:prstGeom>
          <a:solidFill>
            <a:srgbClr val="454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063240"/>
            <a:ext cx="310896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B9C0CA"/>
                </a:solidFill>
                <a:latin typeface="Calibri"/>
              </a:rPr>
              <a:t>2021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USD 60.700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880360"/>
            <a:ext cx="1097280" cy="2103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B8860B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49240" y="2880360"/>
            <a:ext cx="3108960" cy="2103120"/>
          </a:xfrm>
          <a:prstGeom prst="roundRect">
            <a:avLst>
              <a:gd name="adj" fmla="val 6000"/>
            </a:avLst>
          </a:prstGeom>
          <a:solidFill>
            <a:srgbClr val="5A8F6B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9240" y="3063240"/>
            <a:ext cx="310896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DDEAE1"/>
                </a:solidFill>
                <a:latin typeface="Calibri"/>
              </a:rPr>
              <a:t>2025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USD 690.500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69680" y="2880360"/>
            <a:ext cx="2514600" cy="2103120"/>
          </a:xfrm>
          <a:prstGeom prst="roundRect">
            <a:avLst>
              <a:gd name="adj" fmla="val 8000"/>
            </a:avLst>
          </a:prstGeom>
          <a:solidFill>
            <a:srgbClr val="B8860B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0" y="2880360"/>
            <a:ext cx="2514600" cy="2103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6000" b="1" i="0">
                <a:solidFill>
                  <a:srgbClr val="FFFFFF"/>
                </a:solidFill>
                <a:latin typeface="Calibri"/>
              </a:rPr>
              <a:t>11×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en cuatro años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3035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1">
                <a:solidFill>
                  <a:srgbClr val="CFD5DE"/>
                </a:solidFill>
                <a:latin typeface="Calibri"/>
              </a:rPr>
              <a:t>Prueba de concepto, en efectivo: un cargo ligado al suelo escala en pocos años.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8860B"/>
                </a:solidFill>
                <a:latin typeface="Calibri"/>
              </a:rPr>
              <a:t>SÍNTESIS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Los instrumentos de un vistazo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057400"/>
            <a:ext cx="10789920" cy="530352"/>
          </a:xfrm>
          <a:prstGeom prst="rect">
            <a:avLst/>
          </a:prstGeom>
          <a:solidFill>
            <a:srgbClr val="3A42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057400"/>
            <a:ext cx="36576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INSTRUMENTO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2057400"/>
            <a:ext cx="26517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DISPARADOR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0" y="2057400"/>
            <a:ext cx="246888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TASA / BASE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2057400"/>
            <a:ext cx="12801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ESTADO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587752"/>
            <a:ext cx="10789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87752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038"/>
                </a:solidFill>
                <a:latin typeface="Calibri"/>
              </a:rPr>
              <a:t>Contribución por Mejoras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58775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Obra pública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0" y="258775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30–50% del incremento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40" y="2587752"/>
            <a:ext cx="1280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F7D94"/>
                </a:solidFill>
                <a:latin typeface="Calibri"/>
              </a:rPr>
              <a:t>DISEÑADO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090672"/>
            <a:ext cx="10789920" cy="502920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090672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038"/>
                </a:solidFill>
                <a:latin typeface="Calibri"/>
              </a:rPr>
              <a:t>Participación en Valoración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09067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Rezonificación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0" y="309067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30–50% del diferencial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40" y="3090672"/>
            <a:ext cx="1280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F7D94"/>
                </a:solidFill>
                <a:latin typeface="Calibri"/>
              </a:rPr>
              <a:t>DISEÑADO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3593592"/>
            <a:ext cx="10789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593592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038"/>
                </a:solidFill>
                <a:latin typeface="Calibri"/>
              </a:rPr>
              <a:t>Sobretasa a baldíos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59359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Lote ocioso servido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0" y="359359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+100% / +200%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3593592"/>
            <a:ext cx="1280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A8F6B"/>
                </a:solidFill>
                <a:latin typeface="Calibri"/>
              </a:rPr>
              <a:t>● OPERATIVO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4096512"/>
            <a:ext cx="10789920" cy="502920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096512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038"/>
                </a:solidFill>
                <a:latin typeface="Calibri"/>
              </a:rPr>
              <a:t>Suelo Creado / DCA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409651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Edificar sobre la base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0" y="409651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Mercado (COS 2026)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40" y="4096512"/>
            <a:ext cx="1280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F7D94"/>
                </a:solidFill>
                <a:latin typeface="Calibri"/>
              </a:rPr>
              <a:t>DISEÑADO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" y="4599432"/>
            <a:ext cx="10789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4599432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038"/>
                </a:solidFill>
                <a:latin typeface="Calibri"/>
              </a:rPr>
              <a:t>Incentivos fiscales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3440" y="459943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Diseño climático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0" y="459943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Alivio variable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49840" y="4599432"/>
            <a:ext cx="1280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F7D94"/>
                </a:solidFill>
                <a:latin typeface="Calibri"/>
              </a:rPr>
              <a:t>DISEÑADO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5102352"/>
            <a:ext cx="10789920" cy="502920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5102352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038"/>
                </a:solidFill>
                <a:latin typeface="Calibri"/>
              </a:rPr>
              <a:t>Transferencia de Derechos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63440" y="510235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Zona receptora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80" y="510235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Mercado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49840" y="5102352"/>
            <a:ext cx="1280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F7D94"/>
                </a:solidFill>
                <a:latin typeface="Calibri"/>
              </a:rPr>
              <a:t>DISEÑADO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" y="5605272"/>
            <a:ext cx="10789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5605272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038"/>
                </a:solidFill>
                <a:latin typeface="Calibri"/>
              </a:rPr>
              <a:t>Aporte Agua y Cloaca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63440" y="560527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Nuevo desarrollo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8080" y="560527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Tarifaria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49840" y="5605272"/>
            <a:ext cx="1280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A8F6B"/>
                </a:solidFill>
                <a:latin typeface="Calibri"/>
              </a:rPr>
              <a:t>● OPER · 11×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17 / 31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8860B"/>
                </a:solidFill>
                <a:latin typeface="Calibri"/>
              </a:rPr>
              <a:t>EN CONCRETO ·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¿Y esto a quién le toca?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3611880" cy="3200400"/>
          </a:xfrm>
          <a:prstGeom prst="roundRect">
            <a:avLst>
              <a:gd name="adj" fmla="val 5000"/>
            </a:avLst>
          </a:prstGeom>
          <a:solidFill>
            <a:srgbClr val="F1E6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148840"/>
            <a:ext cx="3611880" cy="7620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560320"/>
            <a:ext cx="3063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B1456A"/>
                </a:solidFill>
                <a:latin typeface="Calibri"/>
              </a:rPr>
              <a:t>Un baldío servido y ocioso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566160"/>
            <a:ext cx="30632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Paga la sobretasa (+100% / +200%). El incentivo es claro: construir o vender, no especular.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53712" y="2148840"/>
            <a:ext cx="3611880" cy="3200400"/>
          </a:xfrm>
          <a:prstGeom prst="roundRect">
            <a:avLst>
              <a:gd name="adj" fmla="val 5000"/>
            </a:avLst>
          </a:prstGeom>
          <a:solidFill>
            <a:srgbClr val="F6F0E0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53712" y="2148840"/>
            <a:ext cx="3611880" cy="762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28032" y="2560320"/>
            <a:ext cx="3063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B8860B"/>
                </a:solidFill>
                <a:latin typeface="Calibri"/>
              </a:rPr>
              <a:t>Un loteo o rezonificación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28032" y="3566160"/>
            <a:ext cx="30632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Aporta parte del mayor valor que la ciudad le crea (30–50% del diferencial).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21624" y="2148840"/>
            <a:ext cx="3611880" cy="3200400"/>
          </a:xfrm>
          <a:prstGeom prst="roundRect">
            <a:avLst>
              <a:gd name="adj" fmla="val 5000"/>
            </a:avLst>
          </a:prstGeom>
          <a:solidFill>
            <a:srgbClr val="E7F0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421624" y="2148840"/>
            <a:ext cx="3611880" cy="7620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95944" y="2560320"/>
            <a:ext cx="3063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5A8F6B"/>
                </a:solidFill>
                <a:latin typeface="Calibri"/>
              </a:rPr>
              <a:t>Una familia en su vivienda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95944" y="3566160"/>
            <a:ext cx="30632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No paga ningún cargo nuevo. Y puede acceder a alivios por eficiencia hídrica y arbolado.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623560"/>
            <a:ext cx="10789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B3038"/>
                </a:solidFill>
                <a:latin typeface="Calibri"/>
              </a:rPr>
              <a:t>Paga quien </a:t>
            </a:r>
            <a:r>
              <a:rPr sz="1800" b="1" i="0">
                <a:solidFill>
                  <a:srgbClr val="B8860B"/>
                </a:solidFill>
                <a:latin typeface="Calibri"/>
              </a:rPr>
              <a:t>se beneficia del cambio de suelo</a:t>
            </a:r>
            <a:r>
              <a:rPr sz="1800" b="0" i="0">
                <a:solidFill>
                  <a:srgbClr val="2B3038"/>
                </a:solidFill>
                <a:latin typeface="Calibri"/>
              </a:rPr>
              <a:t> — no el vecino que ya vive en su casa.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18 / 31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4E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4E5869"/>
                </a:solidFill>
                <a:latin typeface="Calibri"/>
              </a:rPr>
              <a:t>LA ARQUITECTURA ·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¿Por qué un </a:t>
            </a:r>
            <a:r>
              <a:rPr sz="3600" b="1" i="0">
                <a:solidFill>
                  <a:srgbClr val="B8860B"/>
                </a:solidFill>
                <a:latin typeface="Calibri"/>
              </a:rPr>
              <a:t>Fideicomiso</a:t>
            </a:r>
            <a:r>
              <a:rPr sz="3600" b="1" i="0">
                <a:solidFill>
                  <a:srgbClr val="4E5869"/>
                </a:solidFill>
                <a:latin typeface="Calibri"/>
              </a:rPr>
              <a:t>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94560"/>
            <a:ext cx="6766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Recurso </a:t>
            </a:r>
            <a:r>
              <a:rPr sz="2000" b="1" i="0">
                <a:solidFill>
                  <a:srgbClr val="B8860B"/>
                </a:solidFill>
                <a:latin typeface="Calibri"/>
              </a:rPr>
              <a:t>blindado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, legalmente separado del presupuesto general.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Es el </a:t>
            </a:r>
            <a:r>
              <a:rPr sz="2000" b="1" i="0">
                <a:solidFill>
                  <a:srgbClr val="2F8F9D"/>
                </a:solidFill>
                <a:latin typeface="Calibri"/>
              </a:rPr>
              <a:t>«colateral»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que un banco o un bono puede ver y auditar.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Gobernanza que </a:t>
            </a:r>
            <a:r>
              <a:rPr sz="2000" b="1" i="0">
                <a:solidFill>
                  <a:srgbClr val="5A8F6B"/>
                </a:solidFill>
                <a:latin typeface="Calibri"/>
              </a:rPr>
              <a:t>blinda los recursos entre gestiones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: directorio + externos, auditoría publicada.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2240280"/>
            <a:ext cx="361188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0" y="2240280"/>
            <a:ext cx="128016" cy="100584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2240280"/>
            <a:ext cx="13716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F8F9D"/>
                </a:solidFill>
                <a:latin typeface="Calibri"/>
              </a:rPr>
              <a:t>60%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2600" y="2240280"/>
            <a:ext cx="19202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Inversión en infraestructura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0" y="3383280"/>
            <a:ext cx="361188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0" y="3383280"/>
            <a:ext cx="128016" cy="1005840"/>
          </a:xfrm>
          <a:prstGeom prst="rect">
            <a:avLst/>
          </a:prstGeom>
          <a:solidFill>
            <a:srgbClr val="6F7D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3383280"/>
            <a:ext cx="13716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6F7D94"/>
                </a:solidFill>
                <a:latin typeface="Calibri"/>
              </a:rPr>
              <a:t>25%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72600" y="3383280"/>
            <a:ext cx="19202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Operación y mantenimiento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4526280"/>
            <a:ext cx="361188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0" y="4526280"/>
            <a:ext cx="128016" cy="100584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0" y="4526280"/>
            <a:ext cx="13716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B8860B"/>
                </a:solidFill>
                <a:latin typeface="Calibri"/>
              </a:rPr>
              <a:t>15%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72600" y="4526280"/>
            <a:ext cx="19202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Cuenta de Apalancamiento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19 / 31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4E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4E5869"/>
                </a:solidFill>
                <a:latin typeface="Calibri"/>
              </a:rPr>
              <a:t>GARANTÍAS Y GESTIÓN ·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No es una caja: controles y primeras obras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057400"/>
            <a:ext cx="5212080" cy="3703320"/>
          </a:xfrm>
          <a:prstGeom prst="roundRect">
            <a:avLst>
              <a:gd name="adj" fmla="val 5000"/>
            </a:avLst>
          </a:prstGeom>
          <a:solidFill>
            <a:srgbClr val="EFF1F4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057400"/>
            <a:ext cx="5212080" cy="76200"/>
          </a:xfrm>
          <a:prstGeom prst="rect">
            <a:avLst/>
          </a:prstGeom>
          <a:solidFill>
            <a:srgbClr val="4E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8600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4E5869"/>
                </a:solidFill>
                <a:latin typeface="Calibri"/>
              </a:rPr>
              <a:t>CONTROLES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926080"/>
            <a:ext cx="47091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Directorio con un </a:t>
            </a:r>
            <a:r>
              <a:rPr sz="1700" b="1" i="0">
                <a:solidFill>
                  <a:srgbClr val="2F8F9D"/>
                </a:solidFill>
                <a:latin typeface="Calibri"/>
              </a:rPr>
              <a:t>externo del Concejo</a:t>
            </a:r>
            <a:r>
              <a:rPr sz="1700" b="0" i="0">
                <a:solidFill>
                  <a:srgbClr val="2B3038"/>
                </a:solidFill>
                <a:latin typeface="Calibri"/>
              </a:rPr>
              <a:t>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Auditoría independiente </a:t>
            </a:r>
            <a:r>
              <a:rPr sz="1700" b="1" i="0">
                <a:solidFill>
                  <a:srgbClr val="5A8F6B"/>
                </a:solidFill>
                <a:latin typeface="Calibri"/>
              </a:rPr>
              <a:t>con informe público</a:t>
            </a:r>
            <a:r>
              <a:rPr sz="1700" b="0" i="0">
                <a:solidFill>
                  <a:srgbClr val="2B3038"/>
                </a:solidFill>
                <a:latin typeface="Calibri"/>
              </a:rPr>
              <a:t>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Mayoría calificada: </a:t>
            </a:r>
            <a:r>
              <a:rPr sz="1700" b="1" i="0">
                <a:solidFill>
                  <a:srgbClr val="B8860B"/>
                </a:solidFill>
                <a:latin typeface="Calibri"/>
              </a:rPr>
              <a:t>blindado entre gestiones</a:t>
            </a:r>
            <a:r>
              <a:rPr sz="1700" b="0" i="0">
                <a:solidFill>
                  <a:srgbClr val="2B3038"/>
                </a:solidFill>
                <a:latin typeface="Calibr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057400"/>
            <a:ext cx="5212080" cy="3703320"/>
          </a:xfrm>
          <a:prstGeom prst="roundRect">
            <a:avLst>
              <a:gd name="adj" fmla="val 5000"/>
            </a:avLst>
          </a:prstGeom>
          <a:solidFill>
            <a:srgbClr val="E7F0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2057400"/>
            <a:ext cx="5212080" cy="7620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228600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5A8F6B"/>
                </a:solidFill>
                <a:latin typeface="Calibri"/>
              </a:rPr>
              <a:t>PRIMERAS OBRAS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926080"/>
            <a:ext cx="47091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Microplazas en distritos </a:t>
            </a:r>
            <a:r>
              <a:rPr sz="1700" b="1" i="0">
                <a:solidFill>
                  <a:srgbClr val="B1456A"/>
                </a:solidFill>
                <a:latin typeface="Calibri"/>
              </a:rPr>
              <a:t>D/E</a:t>
            </a:r>
            <a:r>
              <a:rPr sz="1700" b="0" i="0">
                <a:solidFill>
                  <a:srgbClr val="2B3038"/>
                </a:solidFill>
                <a:latin typeface="Calibri"/>
              </a:rPr>
              <a:t> (ARS 1.200 M).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Red hídrica prioritaria </a:t>
            </a:r>
            <a:r>
              <a:rPr sz="1700" b="1" i="0">
                <a:solidFill>
                  <a:srgbClr val="2F8F9D"/>
                </a:solidFill>
                <a:latin typeface="Calibri"/>
              </a:rPr>
              <a:t>donde más falta</a:t>
            </a:r>
            <a:r>
              <a:rPr sz="1700" b="0" i="0">
                <a:solidFill>
                  <a:srgbClr val="2B3038"/>
                </a:solidFill>
                <a:latin typeface="Calibri"/>
              </a:rPr>
              <a:t>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Plan de </a:t>
            </a:r>
            <a:r>
              <a:rPr sz="1700" b="1" i="0">
                <a:solidFill>
                  <a:srgbClr val="5A8F6B"/>
                </a:solidFill>
                <a:latin typeface="Calibri"/>
              </a:rPr>
              <a:t>arbolado y permeabilidad</a:t>
            </a:r>
            <a:r>
              <a:rPr sz="1700" b="0" i="0">
                <a:solidFill>
                  <a:srgbClr val="2B3038"/>
                </a:solidFill>
                <a:latin typeface="Calibri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9436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7A828E"/>
                </a:solidFill>
                <a:latin typeface="Calibri"/>
              </a:rPr>
              <a:t>Reglas claras + obras visibles el primer año: así se sostiene política y socialmente.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20 / 31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8860B"/>
                </a:solidFill>
                <a:latin typeface="Calibri"/>
              </a:rPr>
              <a:t>DE RECURSO PROPIO A CAPITAL GLOBAL ·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La escalera de apalancamiento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286000"/>
            <a:ext cx="89611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85800" y="2286000"/>
            <a:ext cx="914400" cy="960120"/>
          </a:xfrm>
          <a:prstGeom prst="roundRect">
            <a:avLst>
              <a:gd name="adj" fmla="val 10000"/>
            </a:avLst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286000"/>
            <a:ext cx="9144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395728"/>
            <a:ext cx="7589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Matching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788920"/>
            <a:ext cx="7589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B3038"/>
                </a:solidFill>
                <a:latin typeface="Calibri"/>
              </a:rPr>
              <a:t>La Cuenta de Apalancamiento (~USD 0,45 M/año) ancla la contrapartida de 10–30%.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91640" y="3429000"/>
            <a:ext cx="89611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691640" y="3429000"/>
            <a:ext cx="914400" cy="960120"/>
          </a:xfrm>
          <a:prstGeom prst="roundRect">
            <a:avLst>
              <a:gd name="adj" fmla="val 1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640" y="3429000"/>
            <a:ext cx="9144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3538728"/>
            <a:ext cx="7589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Emitir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3931920"/>
            <a:ext cx="7589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B3038"/>
                </a:solidFill>
                <a:latin typeface="Calibri"/>
              </a:rPr>
              <a:t>Bono verde de 3–4× la recaudación anual (~USD 9–12 M).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697480" y="4572000"/>
            <a:ext cx="89611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697480" y="4572000"/>
            <a:ext cx="914400" cy="960120"/>
          </a:xfrm>
          <a:prstGeom prst="roundRect">
            <a:avLst>
              <a:gd name="adj" fmla="val 10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97480" y="4572000"/>
            <a:ext cx="9144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4681728"/>
            <a:ext cx="7589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5A8F6B"/>
                </a:solidFill>
                <a:latin typeface="Calibri"/>
              </a:rPr>
              <a:t>Escalar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5074920"/>
            <a:ext cx="7589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B3038"/>
                </a:solidFill>
                <a:latin typeface="Calibri"/>
              </a:rPr>
              <a:t>El historial abre facilidades mayores: CAF, BID, GCF.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9436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1">
                <a:solidFill>
                  <a:srgbClr val="B8860B"/>
                </a:solidFill>
                <a:latin typeface="Calibri"/>
              </a:rPr>
              <a:t>La credibilidad, como el capital, se acumula.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21 / 31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A8F6B"/>
                </a:solidFill>
                <a:latin typeface="Calibri"/>
              </a:rPr>
              <a:t>LA REGLA DE GASTO ·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Índice de Ciudad Deseada (ICD)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342900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331720"/>
            <a:ext cx="365760" cy="365760"/>
          </a:xfrm>
          <a:prstGeom prst="ellipse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33172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148840"/>
            <a:ext cx="2560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B3038"/>
                </a:solidFill>
                <a:latin typeface="Calibri"/>
              </a:rPr>
              <a:t>Espacios verdes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2148840"/>
            <a:ext cx="342900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53712" y="2331720"/>
            <a:ext cx="365760" cy="365760"/>
          </a:xfrm>
          <a:prstGeom prst="ellipse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233172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02352" y="2148840"/>
            <a:ext cx="2560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B3038"/>
                </a:solidFill>
                <a:latin typeface="Calibri"/>
              </a:rPr>
              <a:t>Movilidad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5864" y="2148840"/>
            <a:ext cx="342900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38744" y="2331720"/>
            <a:ext cx="365760" cy="365760"/>
          </a:xfrm>
          <a:prstGeom prst="ellipse">
            <a:avLst/>
          </a:prstGeom>
          <a:solidFill>
            <a:srgbClr val="4E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8744" y="233172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87384" y="2148840"/>
            <a:ext cx="2560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B3038"/>
                </a:solidFill>
                <a:latin typeface="Calibri"/>
              </a:rPr>
              <a:t>Compacidad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099816"/>
            <a:ext cx="342900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680" y="3282696"/>
            <a:ext cx="365760" cy="365760"/>
          </a:xfrm>
          <a:prstGeom prst="ellipse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282696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3099816"/>
            <a:ext cx="2560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B3038"/>
                </a:solidFill>
                <a:latin typeface="Calibri"/>
              </a:rPr>
              <a:t>Servicios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70832" y="3099816"/>
            <a:ext cx="342900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553712" y="3282696"/>
            <a:ext cx="365760" cy="365760"/>
          </a:xfrm>
          <a:prstGeom prst="ellipse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53712" y="3282696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02352" y="3099816"/>
            <a:ext cx="2560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B3038"/>
                </a:solidFill>
                <a:latin typeface="Calibri"/>
              </a:rPr>
              <a:t>Equidad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55864" y="3099816"/>
            <a:ext cx="342900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38744" y="3282696"/>
            <a:ext cx="365760" cy="365760"/>
          </a:xfrm>
          <a:prstGeom prst="ellipse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38744" y="3282696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87384" y="3099816"/>
            <a:ext cx="2560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B3038"/>
                </a:solidFill>
                <a:latin typeface="Calibri"/>
              </a:rPr>
              <a:t>Infraestructura agua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4251960"/>
            <a:ext cx="777240" cy="777240"/>
          </a:xfrm>
          <a:prstGeom prst="roundRect">
            <a:avLst>
              <a:gd name="adj" fmla="val 14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251960"/>
            <a:ext cx="777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572768" y="4251960"/>
            <a:ext cx="777240" cy="777240"/>
          </a:xfrm>
          <a:prstGeom prst="roundRect">
            <a:avLst>
              <a:gd name="adj" fmla="val 14000"/>
            </a:avLst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572768" y="4251960"/>
            <a:ext cx="777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459736" y="4251960"/>
            <a:ext cx="777240" cy="777240"/>
          </a:xfrm>
          <a:prstGeom prst="roundRect">
            <a:avLst>
              <a:gd name="adj" fmla="val 14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59736" y="4251960"/>
            <a:ext cx="777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46704" y="4251960"/>
            <a:ext cx="777240" cy="777240"/>
          </a:xfrm>
          <a:prstGeom prst="roundRect">
            <a:avLst>
              <a:gd name="adj" fmla="val 14000"/>
            </a:avLst>
          </a:prstGeom>
          <a:solidFill>
            <a:srgbClr val="C97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6704" y="4251960"/>
            <a:ext cx="777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33672" y="4251960"/>
            <a:ext cx="777240" cy="777240"/>
          </a:xfrm>
          <a:prstGeom prst="roundRect">
            <a:avLst>
              <a:gd name="adj" fmla="val 14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33672" y="4251960"/>
            <a:ext cx="777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4206240"/>
            <a:ext cx="59436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B3038"/>
                </a:solidFill>
                <a:latin typeface="Calibri"/>
              </a:rPr>
              <a:t>Escala A (≥90%) … E (&lt;25%).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4E5869"/>
                </a:solidFill>
                <a:latin typeface="Calibri"/>
              </a:rPr>
              <a:t>Menor nota = mayor prioridad: el dinero va a la necesidad.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22 / 31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A8F6B"/>
                </a:solidFill>
                <a:latin typeface="Calibri"/>
              </a:rPr>
              <a:t>LA REGLA DE GASTO EN ACCIÓN ·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Índice de Priorización de Infraestructura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68580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Traduce el ICD en un </a:t>
            </a:r>
            <a:r>
              <a:rPr sz="2000" b="1" i="0">
                <a:solidFill>
                  <a:srgbClr val="5A8F6B"/>
                </a:solidFill>
                <a:latin typeface="Calibri"/>
              </a:rPr>
              <a:t>diagnóstico territorial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: 6 ejes, 10 indicadores, distrito por distrito.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Cada indicador se compara con un </a:t>
            </a:r>
            <a:r>
              <a:rPr sz="2000" b="1" i="0">
                <a:solidFill>
                  <a:srgbClr val="B8860B"/>
                </a:solidFill>
                <a:latin typeface="Calibri"/>
              </a:rPr>
              <a:t>valor deseado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y se clasifica en tres niveles.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Orienta la inversión hacia las </a:t>
            </a:r>
            <a:r>
              <a:rPr sz="2000" b="1" i="0">
                <a:solidFill>
                  <a:srgbClr val="B1456A"/>
                </a:solidFill>
                <a:latin typeface="Calibri"/>
              </a:rPr>
              <a:t>brechas reales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, no hacia la capacidad de gasto.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2011680"/>
            <a:ext cx="1325880" cy="384048"/>
          </a:xfrm>
          <a:prstGeom prst="roundRect">
            <a:avLst>
              <a:gd name="adj" fmla="val 50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0" y="2011680"/>
            <a:ext cx="13258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ÓPTIMO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89720" y="2011680"/>
            <a:ext cx="1325880" cy="384048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89720" y="2011680"/>
            <a:ext cx="13258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MÍNIMO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607040" y="2011680"/>
            <a:ext cx="1325880" cy="384048"/>
          </a:xfrm>
          <a:prstGeom prst="roundRect">
            <a:avLst>
              <a:gd name="adj" fmla="val 50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0" y="2011680"/>
            <a:ext cx="13258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CRÍTICO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2788920"/>
            <a:ext cx="406908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0" y="2788920"/>
            <a:ext cx="118872" cy="841248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0" y="2788920"/>
            <a:ext cx="36576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1456A"/>
                </a:solidFill>
                <a:latin typeface="Calibri"/>
              </a:rPr>
              <a:t>Compacidad: </a:t>
            </a:r>
            <a:r>
              <a:rPr sz="1500" b="0" i="0">
                <a:solidFill>
                  <a:srgbClr val="2B3038"/>
                </a:solidFill>
                <a:latin typeface="Calibri"/>
              </a:rPr>
              <a:t>la dimensión más crítica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0" y="3749040"/>
            <a:ext cx="406908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0" y="3749040"/>
            <a:ext cx="118872" cy="841248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0" y="3749040"/>
            <a:ext cx="36576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5A8F6B"/>
                </a:solidFill>
                <a:latin typeface="Calibri"/>
              </a:rPr>
              <a:t>Movilidad: </a:t>
            </a:r>
            <a:r>
              <a:rPr sz="1500" b="0" i="0">
                <a:solidFill>
                  <a:srgbClr val="2B3038"/>
                </a:solidFill>
                <a:latin typeface="Calibri"/>
              </a:rPr>
              <a:t>la mejor cubierta (80% óptimo)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0" y="4709160"/>
            <a:ext cx="406908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0" y="4709160"/>
            <a:ext cx="118872" cy="841248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0" y="4709160"/>
            <a:ext cx="36576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8860B"/>
                </a:solidFill>
                <a:latin typeface="Calibri"/>
              </a:rPr>
              <a:t>Equidad: </a:t>
            </a:r>
            <a:r>
              <a:rPr sz="1500" b="0" i="0">
                <a:solidFill>
                  <a:srgbClr val="2B3038"/>
                </a:solidFill>
                <a:latin typeface="Calibri"/>
              </a:rPr>
              <a:t>ningún distrito llega al óptimo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257800"/>
            <a:ext cx="6858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4E5869"/>
                </a:solidFill>
                <a:latin typeface="Calibri"/>
              </a:rPr>
              <a:t>Ranking general: </a:t>
            </a:r>
            <a:r>
              <a:rPr sz="1600" b="0" i="0">
                <a:solidFill>
                  <a:srgbClr val="2B3038"/>
                </a:solidFill>
                <a:latin typeface="Calibri"/>
              </a:rPr>
              <a:t>Ciudad y La Puntilla lideran; Industrial y Vertientes de Pedemonte muestran las mayores brechas.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89788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7A828E"/>
                </a:solidFill>
                <a:latin typeface="Calibri"/>
              </a:rPr>
              <a:t>Ejercicio piloto CIPUV–UTDT · fuente: Municipalidad de Luján de Cuyo e INDEC.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23 / 31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A8F6B"/>
                </a:solidFill>
                <a:latin typeface="Calibri"/>
              </a:rPr>
              <a:t>MAPA DE PRIORIDADES ·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Dónde va primero la inversión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74519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Industrial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63240" y="1889519"/>
            <a:ext cx="7223760" cy="216888"/>
          </a:xfrm>
          <a:prstGeom prst="roundRect">
            <a:avLst>
              <a:gd name="adj" fmla="val 35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60152" y="1874519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1456A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62555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Vertientes de Pedemonte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63240" y="2177555"/>
            <a:ext cx="6862572" cy="216888"/>
          </a:xfrm>
          <a:prstGeom prst="roundRect">
            <a:avLst>
              <a:gd name="adj" fmla="val 35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98964" y="2162555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1456A"/>
                </a:solidFill>
                <a:latin typeface="Calibri"/>
              </a:rPr>
              <a:t>1.5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450591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Cacheuta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63240" y="2465591"/>
            <a:ext cx="6501384" cy="216888"/>
          </a:xfrm>
          <a:prstGeom prst="roundRect">
            <a:avLst>
              <a:gd name="adj" fmla="val 35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37776" y="2450591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1456A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738627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El Carrizal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063240" y="2753627"/>
            <a:ext cx="6140196" cy="216888"/>
          </a:xfrm>
          <a:prstGeom prst="roundRect">
            <a:avLst>
              <a:gd name="adj" fmla="val 35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76588" y="2738627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1456A"/>
                </a:solidFill>
                <a:latin typeface="Calibri"/>
              </a:rPr>
              <a:t>2.5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026663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Las Compuertas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063240" y="3041663"/>
            <a:ext cx="5779008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15400" y="3026663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314699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Perdriel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063240" y="3329699"/>
            <a:ext cx="5779008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15400" y="3314699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3602735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Potrerillos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063240" y="3617735"/>
            <a:ext cx="5779008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15400" y="3602735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3890771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Carrodilla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063240" y="3905771"/>
            <a:ext cx="5417820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54212" y="3890771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3.5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4178807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Agrelo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063240" y="4193807"/>
            <a:ext cx="5417820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54212" y="4178807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3.5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4466843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Ugarteche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063240" y="4481843"/>
            <a:ext cx="5417820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54212" y="4466843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3.5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4754879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Chacras de Coria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063240" y="4769879"/>
            <a:ext cx="5056632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93024" y="4754879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5042915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Vistalba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063240" y="5057915"/>
            <a:ext cx="4695444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831836" y="5042915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4.5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5330951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Mayor Drummond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063240" y="5345951"/>
            <a:ext cx="4695444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831836" y="5330951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4.5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5618987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La Puntilla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063240" y="5633987"/>
            <a:ext cx="3611880" cy="216888"/>
          </a:xfrm>
          <a:prstGeom prst="roundRect">
            <a:avLst>
              <a:gd name="adj" fmla="val 35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748272" y="5618987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5A8F6B"/>
                </a:solidFill>
                <a:latin typeface="Calibri"/>
              </a:rPr>
              <a:t>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" y="5907023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Ciudad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063240" y="5922023"/>
            <a:ext cx="2889504" cy="216888"/>
          </a:xfrm>
          <a:prstGeom prst="roundRect">
            <a:avLst>
              <a:gd name="adj" fmla="val 35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025896" y="5907023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5A8F6B"/>
                </a:solidFill>
                <a:latin typeface="Calibri"/>
              </a:rPr>
              <a:t>7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561320" y="1965960"/>
            <a:ext cx="1463040" cy="2148840"/>
          </a:xfrm>
          <a:prstGeom prst="roundRect">
            <a:avLst>
              <a:gd name="adj" fmla="val 8000"/>
            </a:avLst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716768" y="2148840"/>
            <a:ext cx="12344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4E5869"/>
                </a:solidFill>
                <a:latin typeface="Calibri"/>
              </a:rPr>
              <a:t>n = puntaje ICD /11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5A8F6B"/>
                </a:solidFill>
                <a:latin typeface="Calibri"/>
              </a:rPr>
              <a:t>≥5  lidera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B8860B"/>
                </a:solidFill>
                <a:latin typeface="Calibri"/>
              </a:rPr>
              <a:t>3–4,5  medio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B1456A"/>
                </a:solidFill>
                <a:latin typeface="Calibri"/>
              </a:rPr>
              <a:t>≤2,5  déficit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4480560"/>
            <a:ext cx="3291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2B3038"/>
                </a:solidFill>
                <a:latin typeface="Calibri"/>
              </a:rPr>
              <a:t>Barra = </a:t>
            </a:r>
            <a:r>
              <a:rPr sz="1500" b="1" i="0">
                <a:solidFill>
                  <a:srgbClr val="B1456A"/>
                </a:solidFill>
                <a:latin typeface="Calibri"/>
              </a:rPr>
              <a:t>prioridad</a:t>
            </a:r>
            <a:r>
              <a:rPr sz="1500" b="0" i="0">
                <a:solidFill>
                  <a:srgbClr val="2B3038"/>
                </a:solidFill>
                <a:latin typeface="Calibri"/>
              </a:rPr>
              <a:t> (mayor brecha, primero).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600" b="0" i="0">
                <a:solidFill>
                  <a:srgbClr val="2B3038"/>
                </a:solidFill>
                <a:latin typeface="Calibri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1">
                <a:solidFill>
                  <a:srgbClr val="4E5869"/>
                </a:solidFill>
                <a:latin typeface="Calibri"/>
              </a:rPr>
              <a:t>El índice manda el dinero a Industrial, Vertientes y Cacheuta —no a Ciudad.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24 / 31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A8F6B"/>
                </a:solidFill>
                <a:latin typeface="Calibri"/>
              </a:rPr>
              <a:t>SÍNTESIS ·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4E5869"/>
                </a:solidFill>
                <a:latin typeface="Calibri"/>
              </a:rPr>
              <a:t>Tabla Síntesis: los 11 subíndices por distrito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024128"/>
            <a:ext cx="1234440" cy="384048"/>
          </a:xfrm>
          <a:prstGeom prst="roundRect">
            <a:avLst>
              <a:gd name="adj" fmla="val 50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024128"/>
            <a:ext cx="12344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ÓPTIMO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464040" y="1024128"/>
            <a:ext cx="1234440" cy="384048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64040" y="1024128"/>
            <a:ext cx="12344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MÍNIMO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789920" y="1024128"/>
            <a:ext cx="1234440" cy="384048"/>
          </a:xfrm>
          <a:prstGeom prst="roundRect">
            <a:avLst>
              <a:gd name="adj" fmla="val 50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0" y="1024128"/>
            <a:ext cx="12344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CRÍTICO</a:t>
            </a:r>
          </a:p>
        </p:txBody>
      </p:sp>
      <p:pic>
        <p:nvPicPr>
          <p:cNvPr id="12" name="Picture 11" descr="tabla-sintesis-infraestruc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1554480"/>
            <a:ext cx="10607040" cy="482869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5800" y="6053328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7A828E"/>
                </a:solidFill>
                <a:latin typeface="Calibri"/>
              </a:rPr>
              <a:t>Cada indicador se pondera sobre 11 puntos: Óptimo 1 · Mínimo 0,5 · Crítico 0 · s/d computa 0.  </a:t>
            </a:r>
            <a:r>
              <a:rPr sz="1150" b="0" i="1">
                <a:solidFill>
                  <a:srgbClr val="6F7D94"/>
                </a:solidFill>
                <a:latin typeface="Calibri"/>
              </a:rPr>
              <a:t>Fuente: elaboración propia CIPUV–UTDT.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25 / 31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A8F6B"/>
                </a:solidFill>
                <a:latin typeface="Calibri"/>
              </a:rPr>
              <a:t>LA REGLA QUE CORRIGE ·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La regla que decide dónde invertir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106070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Sin regla, la inversión tiende a ir donde </a:t>
            </a:r>
            <a:r>
              <a:rPr sz="2100" b="1" i="0">
                <a:solidFill>
                  <a:srgbClr val="2F8F9D"/>
                </a:solidFill>
                <a:latin typeface="Calibri"/>
              </a:rPr>
              <a:t>ya hay capacidad instalada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El ICD invierte esa lógica: </a:t>
            </a:r>
            <a:r>
              <a:rPr sz="2100" b="1" i="0">
                <a:solidFill>
                  <a:srgbClr val="5A8F6B"/>
                </a:solidFill>
                <a:latin typeface="Calibri"/>
              </a:rPr>
              <a:t>prioriza los distritos con mayor déficit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 (D/E).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Primer movimiento: </a:t>
            </a:r>
            <a:r>
              <a:rPr sz="2100" b="1" i="0">
                <a:solidFill>
                  <a:srgbClr val="B8860B"/>
                </a:solidFill>
                <a:latin typeface="Calibri"/>
              </a:rPr>
              <a:t>microplazas (ARS 1.200 M) a los barrios que más lo necesitan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394960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1">
                <a:solidFill>
                  <a:srgbClr val="B8860B"/>
                </a:solidFill>
                <a:latin typeface="Calibri"/>
              </a:rPr>
              <a:t>El ICD no describe: corrige. Alinea la inversión con la necesidad, no con la capacidad de gasto.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26 / 31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8860B"/>
                </a:solidFill>
                <a:latin typeface="Calibri"/>
              </a:rPr>
              <a:t>LOS NÚMEROS REALES ·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Potencial de recaudación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46888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468880"/>
            <a:ext cx="3520440" cy="7620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97180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5A8F6B"/>
                </a:solidFill>
                <a:latin typeface="Calibri"/>
              </a:rPr>
              <a:t>~USD 1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4023360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4E5869"/>
                </a:solidFill>
                <a:latin typeface="Calibri"/>
              </a:rPr>
              <a:t>YA se recauda hoy (2 instrumentos operativos)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62272" y="246888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62272" y="2468880"/>
            <a:ext cx="3520440" cy="762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90872" y="297180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B8860B"/>
                </a:solidFill>
                <a:latin typeface="Calibri"/>
              </a:rPr>
              <a:t>~USD 3 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4023360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4E5869"/>
                </a:solidFill>
                <a:latin typeface="Calibri"/>
              </a:rPr>
              <a:t>potencial del paquete completo (base)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38744" y="246888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38744" y="2468880"/>
            <a:ext cx="3520440" cy="7620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67344" y="297180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2F8F9D"/>
                </a:solidFill>
                <a:latin typeface="Calibri"/>
              </a:rPr>
              <a:t>USD 56 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13064" y="4023360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4E5869"/>
                </a:solidFill>
                <a:latin typeface="Calibri"/>
              </a:rPr>
              <a:t>brecha de espacio verde → la cierra el bono verde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62356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1">
                <a:solidFill>
                  <a:srgbClr val="7A828E"/>
                </a:solidFill>
                <a:latin typeface="Calibri"/>
              </a:rPr>
              <a:t>De ~1 a ~3 con el paquete; y del recurso propio, un salto a decenas con el bono verde.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27 / 31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1456A"/>
                </a:solidFill>
                <a:latin typeface="Calibri"/>
              </a:rPr>
              <a:t>EQUIDAD ·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¿Quién paga y quién se beneficia?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94560"/>
            <a:ext cx="5212080" cy="2103120"/>
          </a:xfrm>
          <a:prstGeom prst="roundRect">
            <a:avLst>
              <a:gd name="adj" fmla="val 5000"/>
            </a:avLst>
          </a:prstGeom>
          <a:solidFill>
            <a:srgbClr val="F1E6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42316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B1456A"/>
                </a:solidFill>
                <a:latin typeface="Calibri"/>
              </a:rPr>
              <a:t>PAGA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926080"/>
            <a:ext cx="46634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2B3038"/>
                </a:solidFill>
                <a:latin typeface="Calibri"/>
              </a:rPr>
              <a:t>Quien captura la plusvalía: desarrolladores y dueños de suelo ocioso (bases progresivas).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94560"/>
            <a:ext cx="5212080" cy="2103120"/>
          </a:xfrm>
          <a:prstGeom prst="roundRect">
            <a:avLst>
              <a:gd name="adj" fmla="val 5000"/>
            </a:avLst>
          </a:prstGeom>
          <a:solidFill>
            <a:srgbClr val="E7F0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42316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5A8F6B"/>
                </a:solidFill>
                <a:latin typeface="Calibri"/>
              </a:rPr>
              <a:t>SE BENEFICIA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926080"/>
            <a:ext cx="46634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2B3038"/>
                </a:solidFill>
                <a:latin typeface="Calibri"/>
              </a:rPr>
              <a:t>El distrito con menor acceso a verde, agua y servicios (vía ICD).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617720"/>
            <a:ext cx="10789920" cy="1234440"/>
          </a:xfrm>
          <a:prstGeom prst="roundRect">
            <a:avLst>
              <a:gd name="adj" fmla="val 7000"/>
            </a:avLst>
          </a:prstGeom>
          <a:solidFill>
            <a:srgbClr val="3A42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617720"/>
            <a:ext cx="1014984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Con suelo inelástico (límite hídrico), la carga recae en el terrateniente → </a:t>
            </a:r>
            <a:r>
              <a:rPr sz="1900" b="1" i="0">
                <a:solidFill>
                  <a:srgbClr val="D4C088"/>
                </a:solidFill>
                <a:latin typeface="Calibri"/>
              </a:rPr>
              <a:t>un caso deliberadamente progresivo.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28 / 31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A8F6B"/>
                </a:solidFill>
                <a:latin typeface="Calibri"/>
              </a:rPr>
              <a:t>NO SÓLO ADAPTACIÓN ·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Co-beneficios </a:t>
            </a:r>
            <a:r>
              <a:rPr sz="3600" b="1" i="0">
                <a:solidFill>
                  <a:srgbClr val="5A8F6B"/>
                </a:solidFill>
                <a:latin typeface="Calibri"/>
              </a:rPr>
              <a:t>low-carbon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106070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Premian el desarrollo compacto y orientado al transporte (TOD): </a:t>
            </a:r>
            <a:r>
              <a:rPr sz="2100" b="1" i="0">
                <a:solidFill>
                  <a:srgbClr val="5A8F6B"/>
                </a:solidFill>
                <a:latin typeface="Calibri"/>
              </a:rPr>
              <a:t>el metrotranvía concentra edificabilidad.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Menos viajes en auto: </a:t>
            </a:r>
            <a:r>
              <a:rPr sz="2100" b="1" i="0">
                <a:solidFill>
                  <a:srgbClr val="2F8F9D"/>
                </a:solidFill>
                <a:latin typeface="Calibri"/>
              </a:rPr>
              <a:t>menor consumo energético e hídrico per cápita.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Se evita convertir suelo agrícola y de pedemonte: </a:t>
            </a:r>
            <a:r>
              <a:rPr sz="2100" b="1" i="0">
                <a:solidFill>
                  <a:srgbClr val="B8860B"/>
                </a:solidFill>
                <a:latin typeface="Calibri"/>
              </a:rPr>
              <a:t>carbono + recarga preservados.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394960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1">
                <a:solidFill>
                  <a:srgbClr val="B8860B"/>
                </a:solidFill>
                <a:latin typeface="Calibri"/>
              </a:rPr>
              <a:t>Adaptación y mitigación: la misma palanca, accionada una sola vez.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29 / 31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42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777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D4C088"/>
                </a:solidFill>
                <a:latin typeface="Calibri"/>
              </a:rPr>
              <a:t>PARA DISCUTIR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801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Cinco preguntas para el debate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2377440"/>
            <a:ext cx="502920" cy="502920"/>
          </a:xfrm>
          <a:prstGeom prst="ellipse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37744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377440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E4E7EC"/>
                </a:solidFill>
                <a:latin typeface="Calibri"/>
              </a:rPr>
              <a:t>¿La captura de valor es regresiva o progresiva? ¿De qué depende?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3127248"/>
            <a:ext cx="502920" cy="502920"/>
          </a:xfrm>
          <a:prstGeom prst="ellipse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127248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3127248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E4E7EC"/>
                </a:solidFill>
                <a:latin typeface="Calibri"/>
              </a:rPr>
              <a:t>¿Por qué un fideicomiso y no el presupuesto general?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3877056"/>
            <a:ext cx="502920" cy="502920"/>
          </a:xfrm>
          <a:prstGeom prst="ellipse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877056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3877056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E4E7EC"/>
                </a:solidFill>
                <a:latin typeface="Calibri"/>
              </a:rPr>
              <a:t>¿Qué pasa si el take-up de derechos de construcción es bajo?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626864"/>
            <a:ext cx="502920" cy="502920"/>
          </a:xfrm>
          <a:prstGeom prst="ellipse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626864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462686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E4E7EC"/>
                </a:solidFill>
                <a:latin typeface="Calibri"/>
              </a:rPr>
              <a:t>¿Lo replicarías en tu ciudad? ¿Qué instrumento primero?</a:t>
            </a:r>
          </a:p>
        </p:txBody>
      </p:sp>
      <p:sp>
        <p:nvSpPr>
          <p:cNvPr id="17" name="Oval 16"/>
          <p:cNvSpPr/>
          <p:nvPr/>
        </p:nvSpPr>
        <p:spPr>
          <a:xfrm>
            <a:off x="868680" y="5376672"/>
            <a:ext cx="502920" cy="502920"/>
          </a:xfrm>
          <a:prstGeom prst="ellipse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376672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5376672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E4E7EC"/>
                </a:solidFill>
                <a:latin typeface="Calibri"/>
              </a:rPr>
              <a:t>¿Cómo se sostiene políticamente entre gestiones?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8860B"/>
                </a:solidFill>
                <a:latin typeface="Calibri"/>
              </a:rPr>
              <a:t>PARA LLEVARSE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Cuatro ideas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057400"/>
            <a:ext cx="53492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057400"/>
            <a:ext cx="128016" cy="123444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221992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1.  </a:t>
            </a:r>
            <a:r>
              <a:rPr sz="2000" b="1" i="0">
                <a:solidFill>
                  <a:srgbClr val="2B3038"/>
                </a:solidFill>
                <a:latin typeface="Calibri"/>
              </a:rPr>
              <a:t>Una máquina replicable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715768"/>
            <a:ext cx="4800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5869"/>
                </a:solidFill>
                <a:latin typeface="Calibri"/>
              </a:rPr>
              <a:t>capturar → blindar → apalancar → redistribuir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2057400"/>
            <a:ext cx="53492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91072" y="2057400"/>
            <a:ext cx="128016" cy="123444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1112" y="2221992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5A8F6B"/>
                </a:solidFill>
                <a:latin typeface="Calibri"/>
              </a:rPr>
              <a:t>2.  </a:t>
            </a:r>
            <a:r>
              <a:rPr sz="2000" b="1" i="0">
                <a:solidFill>
                  <a:srgbClr val="2B3038"/>
                </a:solidFill>
                <a:latin typeface="Calibri"/>
              </a:rPr>
              <a:t>Ya funciona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11112" y="2715768"/>
            <a:ext cx="4800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5869"/>
                </a:solidFill>
                <a:latin typeface="Calibri"/>
              </a:rPr>
              <a:t>~USD 1 M/año se recauda; el paquete llega a ~USD 3 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529584"/>
            <a:ext cx="53492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3529584"/>
            <a:ext cx="128016" cy="123444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694176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3.  </a:t>
            </a:r>
            <a:r>
              <a:rPr sz="2000" b="1" i="0">
                <a:solidFill>
                  <a:srgbClr val="2B3038"/>
                </a:solidFill>
                <a:latin typeface="Calibri"/>
              </a:rPr>
              <a:t>El fideicomiso es la llave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187952"/>
            <a:ext cx="4800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5869"/>
                </a:solidFill>
                <a:latin typeface="Calibri"/>
              </a:rPr>
              <a:t>convierte recurso local en contrapartida y repago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91072" y="3529584"/>
            <a:ext cx="53492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91072" y="3529584"/>
            <a:ext cx="128016" cy="123444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1112" y="3694176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1456A"/>
                </a:solidFill>
                <a:latin typeface="Calibri"/>
              </a:rPr>
              <a:t>4.  </a:t>
            </a:r>
            <a:r>
              <a:rPr sz="2000" b="1" i="0">
                <a:solidFill>
                  <a:srgbClr val="2B3038"/>
                </a:solidFill>
                <a:latin typeface="Calibri"/>
              </a:rPr>
              <a:t>Equidad por diseño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11112" y="4187952"/>
            <a:ext cx="4800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5869"/>
                </a:solidFill>
                <a:latin typeface="Calibri"/>
              </a:rPr>
              <a:t>el índice manda el dinero a donde más se necesita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5029200"/>
            <a:ext cx="10789920" cy="914400"/>
          </a:xfrm>
          <a:prstGeom prst="roundRect">
            <a:avLst>
              <a:gd name="adj" fmla="val 10000"/>
            </a:avLst>
          </a:prstGeom>
          <a:solidFill>
            <a:srgbClr val="3A42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0292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1">
                <a:solidFill>
                  <a:srgbClr val="FFFFFF"/>
                </a:solidFill>
                <a:latin typeface="Calibri"/>
              </a:rPr>
              <a:t>“Una transición justa no se mide por el tamaño del cheque, sino por dónde aterriza.”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31 / 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