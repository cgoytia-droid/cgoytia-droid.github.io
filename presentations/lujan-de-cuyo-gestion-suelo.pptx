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duro: crece 46% en doce años sobre 200 mm de lluvia. Cada hectárea que se urbaniza suma demanda de agua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propia CIPUV: el crecimiento no es uniforme. Se concentra en el este, sobre el oasis regado del Gran Mendoza —justo el suelo cuya conversión dispara la paradoja agua–suelo. Fuente: elaboración propia en base a Municipalidad de Luján de Cuyo e INDEC.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motor real del ICD: un tablero que puntúa cada distrito en seis ejes contra un valor deseado. No mide capacidad de pago, mide déficit. Es un ejercicio piloto de validación metodológica de la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resultado en una imagen: Ciudad y La Puntilla, ya consolidadas, puntúan alto; los distritos del oeste y el periurbano (Industrial, Vertientes, Cacheuta) puntúan bajo y son, por diseño, los primeros destinatarios de la inversión. Puntaje sobre 11 puntos.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honestidad del caso: sin regla, el dinero va a donde ya está bien. El ICD existe precisamente para forzar la corrección hacia los distritos D y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hay, el potencial propio y la brecha que sólo cierra el apalancamiento. El fideicomiso es el puente entre la segunda y la tercera.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" y="6309360"/>
            <a:ext cx="11899087" cy="5486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6309360"/>
            <a:ext cx="5973775" cy="5486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772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CIPUV–UTDT · LINCOLN INSTITUTE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D0DA"/>
                </a:solidFill>
                <a:latin typeface="Calibri"/>
              </a:rPr>
              <a:t>LUJÁN DE CUYO · MENDOZA, ARGENTINA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D4C088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D8DDE4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02920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Caso: Mendoza, Argentina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5029200"/>
            <a:ext cx="32004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39" y="5029200"/>
            <a:ext cx="3200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Enfoque: Land Value Capture + clima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50292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5029200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Clase · 30 minutos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~175.000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~200 mm de lluvia al año: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todo el sistema 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2F8F9D"/>
                </a:solidFill>
                <a:latin typeface="Calibri"/>
              </a:rPr>
              <a:t>+46%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crecimiento poblacional 2010–2022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crece Luján de Cuyo?</a:t>
            </a:r>
          </a:p>
        </p:txBody>
      </p:sp>
      <p:pic>
        <p:nvPicPr>
          <p:cNvPr id="6" name="Picture 5" descr="mapa-poblacion-luj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83080"/>
            <a:ext cx="6309360" cy="4459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6262575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Población por distrito, 2022 · Gran Mendoza y Luján de Cuyo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1" i="0">
                <a:solidFill>
                  <a:srgbClr val="2B3038"/>
                </a:solidFill>
                <a:latin typeface="Calibri"/>
              </a:rPr>
              <a:t>Carrodilla (30.469) y Perdriel (24.922)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concentran el mayor tamaño y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El avance urbano ocurre sobre el </a:t>
            </a:r>
            <a:r>
              <a:rPr sz="1900" b="1" i="0">
                <a:solidFill>
                  <a:srgbClr val="2F8F9D"/>
                </a:solidFill>
                <a:latin typeface="Calibri"/>
              </a:rPr>
              <a:t>periurbano regado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: Chacras, Vistalba, Vertientes.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Cada distrito que crece </a:t>
            </a:r>
            <a:r>
              <a:rPr sz="1900" b="1" i="0">
                <a:solidFill>
                  <a:srgbClr val="5A8F6B"/>
                </a:solidFill>
                <a:latin typeface="Calibri"/>
              </a:rPr>
              <a:t>urbaniza suelo con derecho de agua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→ más demanda, menos recarga.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09160"/>
            <a:ext cx="4800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709160"/>
            <a:ext cx="480060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928616"/>
            <a:ext cx="439826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F8F9D"/>
                </a:solidFill>
                <a:latin typeface="Calibri"/>
              </a:rPr>
              <a:t>+42,6%  ·  +50.546 hab.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crecimiento intercensal 2010–2022 en Luján de Cuyo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D4C088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Gravarlo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Grava el aumento de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Grava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Grava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D4C088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EN ACCIÓN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Priorización de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Traduce el ICD en un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diagnóstico territorial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6 ejes, 10 indicadores, distrito por distrito.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Cada indicador se compara con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valor deseado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y se clasifica en tres niveles.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Orienta la inversión hacia las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brechas reales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no hacia la capacidad de gasto.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118872" cy="841248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8892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Compacidad: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dimensión más crítica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74904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49040"/>
            <a:ext cx="118872" cy="841248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74904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A8F6B"/>
                </a:solidFill>
                <a:latin typeface="Calibri"/>
              </a:rPr>
              <a:t>Movilidad: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mejor cubierta (80% óptimo)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70916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709160"/>
            <a:ext cx="118872" cy="8412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0916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860B"/>
                </a:solidFill>
                <a:latin typeface="Calibri"/>
              </a:rPr>
              <a:t>Equidad: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ningún distrito llega al óptimo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57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E5869"/>
                </a:solidFill>
                <a:latin typeface="Calibri"/>
              </a:rPr>
              <a:t>Ranking general: </a:t>
            </a:r>
            <a:r>
              <a:rPr sz="1600" b="0" i="0">
                <a:solidFill>
                  <a:srgbClr val="2B3038"/>
                </a:solidFill>
                <a:latin typeface="Calibri"/>
              </a:rPr>
              <a:t>Ciudad y La Puntilla lideran; Industrial y Vertientes de Pedemonte muestran las mayores brechas.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Ejercicio piloto CIPUV–UTDT · fuente: Municipalidad de Luján de Cuyo e INDEC.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DIAGNÓSTICO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Ranking de prioridad por distrito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Ciudad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889519"/>
            <a:ext cx="7589520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43032" y="1874519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2555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 Puntilla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177555"/>
            <a:ext cx="6505302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58814" y="2162555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1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Mayor Drummond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2465591"/>
            <a:ext cx="4878977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2489" y="2450591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38627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Vistalba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0360" y="2753627"/>
            <a:ext cx="4878977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2489" y="2738627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26663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Chacras de Coria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3041663"/>
            <a:ext cx="4336868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90380" y="3026663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14699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Carrodilla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360" y="3329699"/>
            <a:ext cx="379476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14699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02735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Agrelo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80360" y="3617735"/>
            <a:ext cx="379476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3602735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890771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Ugarteche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360" y="3905771"/>
            <a:ext cx="379476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890771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8807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Las Compuertas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80360" y="4193807"/>
            <a:ext cx="3252651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6163" y="4178807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466843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Perdriel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360" y="4481843"/>
            <a:ext cx="3252651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6163" y="4466843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79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Potrerillos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880360" y="4769879"/>
            <a:ext cx="3252651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06163" y="4754879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042915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El Carrizal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80360" y="5057915"/>
            <a:ext cx="2710542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4054" y="5042915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30951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Cacheuta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80360" y="5345951"/>
            <a:ext cx="2168434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1946" y="5330951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618987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Vertientes de Pedemonte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360" y="5633987"/>
            <a:ext cx="1626325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9837" y="5618987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907023"/>
            <a:ext cx="210312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Industrial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880360" y="5922023"/>
            <a:ext cx="1084217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37729" y="5907023"/>
            <a:ext cx="8229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98480" y="1874519"/>
            <a:ext cx="1280160" cy="457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652760" y="1965960"/>
            <a:ext cx="1325880" cy="1965960"/>
          </a:xfrm>
          <a:prstGeom prst="roundRect">
            <a:avLst>
              <a:gd name="adj" fmla="val 8000"/>
            </a:avLst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0" y="2148840"/>
            <a:ext cx="1097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4E5869"/>
                </a:solidFill>
                <a:latin typeface="Calibri"/>
              </a:rPr>
              <a:t>Puntaje /11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A8F6B"/>
                </a:solidFill>
                <a:latin typeface="Calibri"/>
              </a:rPr>
              <a:t>≥4  bien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8860B"/>
                </a:solidFill>
                <a:latin typeface="Calibri"/>
              </a:rPr>
              <a:t>2,5–3,9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1456A"/>
                </a:solidFill>
                <a:latin typeface="Calibri"/>
              </a:rPr>
              <a:t>&lt;2,5  déficit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4297680"/>
            <a:ext cx="3108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B3038"/>
                </a:solidFill>
                <a:latin typeface="Calibri"/>
              </a:rPr>
              <a:t>Menor puntaje = </a:t>
            </a:r>
            <a:r>
              <a:rPr sz="1500" b="1" i="0">
                <a:solidFill>
                  <a:srgbClr val="B1456A"/>
                </a:solidFill>
                <a:latin typeface="Calibri"/>
              </a:rPr>
              <a:t>mayor prioridad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 de inversión.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2B303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4E5869"/>
                </a:solidFill>
                <a:latin typeface="Calibri"/>
              </a:rPr>
              <a:t>El índice manda el dinero a Industrial, Vertientes y Cacheuta —no a Ciudad.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LA PRUEBA DE EQUIDAD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se necesita vs. dónde se invierte?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Las 2 mayores inversiones caen en distritos que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puntúan bien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verde.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Los más necesitados </a:t>
            </a:r>
            <a:r>
              <a:rPr sz="2100" b="1" i="0">
                <a:solidFill>
                  <a:srgbClr val="B1456A"/>
                </a:solidFill>
                <a:latin typeface="Calibri"/>
              </a:rPr>
              <a:t>(Vistalba, Las Compuertas, Industrial)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no reciben obra verde.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La palanca: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reasignar las microplazas (ARS 1.200 M) a distritos D/E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potencial del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USD 56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brecha de espacio verde → la cierra el bono verde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con el paquete; y del recurso propio, un salto a decenas con el bono verde.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D4C088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4C088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