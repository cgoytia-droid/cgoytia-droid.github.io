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Un caso real de una ciudad intermedia que usa la gestión del suelo para financiar su propia adaptación climática. Hoy: seis instrumentos, un fideicomiso y una regla de gasto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arco de la clase: del problema físico (agua-suelo) a una máquina financiera que captura valor, lo blinda y lo redistribuye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clase cabe en cuatro verbos: capturar, blindar, apalancar, redistribuir. Si se recuerda esto, se recuerda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duro: crece 46% en doce años sobre 200 mm de lluvia. Cada hectárea que se urbaniza suma demanda de agua y resta recarga del acuífero.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mapa de la propia CIPUV: el crecimiento no es uniforme. Se concentra en el este, sobre el oasis regado del Gran Mendoza —justo el suelo cuya conversión dispara la paradoja agua–suelo. Fuente: elaboración propia en base a Municipalidad de Luján de Cuyo e INDEC.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corazón del caso. Una sola decisión —que otorga el propio Concejo— produce ganancia privada y costo colectivo. Ese diferencial de valor es el que puede pagar la adaptación.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fundamento teórico: la plusvalía del suelo es en buena parte no ganada. Gravarla es eficiente (no distorsiona) y justo. La novedad es acoplarla al financiamiento climático.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estructural: el capital climático premia a quien ya puede, no a quien más lo necesita. La única salida para una ciudad intermedia es traer su propia llave.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tesis central: el valor no está en cada instrumento, sino en encadenarlos. Crear → capturar → blindar → redistribuir →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general de los seis. No hace falta memorizarlos: lo importante es que cada uno engancha en un momento distinto del ciclo del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Instrumento clásico. Si el municipio hace la obra hídrica, captura parte de la valorización que esa obra crea. Se paga en cuotas para no golpear a los hogares de menores ingresos.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instrumento emblemático de la paradoja: la conversión de suelo permeable a impermeable genera el costo, y este mismo cargo captura el pago que lo financia.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está operativo. 5.315 lotes, recaudación real estimada. Además del ingreso, empuja el relleno urbano en vez del sprawl: adaptación y forma urbana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edificabilidad extra deja de ser un regalo del zoning y pasa a comprarse. El precio se referencia al mercado y premia el diseño eficiente en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instrumentos que orientan conducta, no sólo recaudan: el gradiente verde premia el diseño adaptado, y la TDR protege suelo estratégico sin gasto de 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más contundente. No es teoría: un cargo por conexión de servicios se multiplicó por 11 en cuatro años, en dólares constantes. Es la prueba de que el modelo 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Cuadro de referencia. Dos ya operativos (verde), el resto diseñados y listos. Nótese la diversidad de disparadores: cada uno cubre un momento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que todos se hacen. Es clave para desactivar el rumor de 'más impuestos': el aporte recae sobre baldíos ociosos y sobre quien desarrolla o rezonifica, no sobre la familia que habita su vivienda. Al contrario, esa familia puede recibir alivios.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fideicomiso es la pieza que convierte recaudación en credibilidad. Separado del presupuesto, auditado, con reglas de reparto fijas: eso es lo que un financista puede confiar.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las dos preguntas del Concejo: ¿quién controla la plata? (auditoría, externo del Concejo, informe público) y ¿qué se ve el primer año? (microplazas en D/E, red hídrica, arbolado). Reglas claras y obras tempranas dan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un peso local se convierte en muchos dólares globales: usar la recaudación como contrapartida, emitir deuda verde contra ella, y escalar hacia la banca multilateral.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regla de gasto es tan importante como la recaudación. El ICD mide seis dimensiones y dirige la inversión a los barrios peor puntuados. Es equidad convertida en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motor real del ICD: un tablero que puntúa cada distrito en seis ejes contra un valor deseado. No mide capacidad de pago, mide déficit. Es un ejercicio piloto de validación metodológica de la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orden y colores que la Tabla Síntesis: Ciudad (7) y La Puntilla (6) lideran (verde); el tramo intermedio 3–4,5 en amarillo; el déficit ≤2,5 (El Carrizal, Cacheuta, Vertientes, Industrial) en rojo. Menor puntaje = mayor prioridad de inversión.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tabla completa que sostiene el ranking: 11 subíndices por distrito, cada celda clasificada en Óptimo (verde), Mínimo (amarillo) o Crítico (rojo). El indicador 1.1 (infraestructura verde pública) queda pendiente por falta de datos. Es la tabla original del ejercicio piloto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positivo: el valor que agrega el sistema es una regla que, de acá en adelante, dirige la inversión a los distritos con mayor déficit (D/E) en vez de a los que ya están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escala en tres cifras: lo que ya hay, el potencial propio y la brecha que sólo cierra el apalancamiento. El fideicomiso es el puente entre la segunda y la tercera.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 pregunta de examen: como el suelo es inelástico por el límite del agua, el impuesto no se traslada, recae en el dueño de la tierra. Es progresivo.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bonus: los mismos instrumentos que financian la adaptación también reducen emisiones. No hay que elegir entre adaptar y mitigar; aquí es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para abrir el debate. La primera y la última suelen dar la mejor discusión: incidencia del impuesto y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Cuatro ideas para llevarse y una frase: lo que define una transición justa no es cuánto dinero, sino dónde cae.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UNIVERSIDAD TORCUATO DI TELLA</a:t>
            </a:r>
            <a:r>
              <a:rPr sz="1500" b="1" i="0">
                <a:solidFill>
                  <a:srgbClr val="6B6B6B"/>
                </a:solidFill>
                <a:latin typeface="Calibri"/>
              </a:rPr>
              <a:t>   ·   ESCUELA DE GOBIERNO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24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E8C1E"/>
                </a:solidFill>
                <a:latin typeface="Calibri"/>
              </a:rPr>
              <a:t>CIPUV</a:t>
            </a:r>
            <a:r>
              <a:rPr sz="1300" b="0" i="0">
                <a:solidFill>
                  <a:srgbClr val="6B6B6B"/>
                </a:solidFill>
                <a:latin typeface="Calibri"/>
              </a:rPr>
              <a:t>  —  Centro de Investigación de Políticas Urbanas y de Vivienda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572768"/>
            <a:ext cx="219456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1A1A1A"/>
                </a:solidFill>
                <a:latin typeface="Calibri"/>
              </a:rPr>
              <a:t>Innovación en gestión del suelo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5E8C1E"/>
                </a:solidFill>
                <a:latin typeface="Calibri"/>
              </a:rPr>
              <a:t>para financiar la adaptación climática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434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6B6B6B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166360"/>
            <a:ext cx="2971800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166360"/>
            <a:ext cx="2971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Caso · Luján de Cuyo, Mendoza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51663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5166360"/>
            <a:ext cx="3291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Land Value Capture + clima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516636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166360"/>
            <a:ext cx="2560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Clase · 30 minutos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144768"/>
            <a:ext cx="10469880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A9A"/>
                </a:solidFill>
                <a:latin typeface="Calibri"/>
              </a:rPr>
              <a:t>Cátedra de Economía Urbana · MEU   ·   en colaboración con el Lincoln Institute of Land Policy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9728" cy="105156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6792" y="2148840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109728" cy="105156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Los seis instrumentos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6792" y="3456432"/>
            <a:ext cx="109728" cy="105156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4E5869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764024"/>
            <a:ext cx="109728" cy="105156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A8F6B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6792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4764024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2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Números, equidad y co-beneficios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verbos, un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26060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F8F9D"/>
                </a:solidFill>
                <a:latin typeface="Calibri"/>
              </a:rPr>
              <a:t>Capturar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872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CEEF1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7872" y="2331720"/>
            <a:ext cx="260604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904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E586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4E5869"/>
                </a:solidFill>
                <a:latin typeface="Calibri"/>
              </a:rPr>
              <a:t>Blindar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9944" y="2331720"/>
            <a:ext cx="26060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8860B"/>
                </a:solidFill>
                <a:latin typeface="Calibri"/>
              </a:rPr>
              <a:t>Apalancar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2331720"/>
            <a:ext cx="26060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A8F6B"/>
                </a:solidFill>
                <a:latin typeface="Calibri"/>
              </a:rPr>
              <a:t>Redistribuir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Una ciudad que crece con </a:t>
            </a:r>
            <a:r>
              <a:rPr sz="3600" b="1" i="0">
                <a:solidFill>
                  <a:srgbClr val="2F8F9D"/>
                </a:solidFill>
                <a:latin typeface="Calibri"/>
              </a:rPr>
              <a:t>presupuesto de agua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7406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~175.000 habitantes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en un oasis semiárido al pie de los Andes.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~200 mm de lluvia al año: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todo el sistema depende del deshielo andino.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Dos tendencias en colisión: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menos nieve, más urbanización del periurbano regado.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240280"/>
            <a:ext cx="28346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49640" y="2240280"/>
            <a:ext cx="283464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2459736"/>
            <a:ext cx="2432304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2F8F9D"/>
                </a:solidFill>
                <a:latin typeface="Calibri"/>
              </a:rPr>
              <a:t>+46%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crecimiento poblacional 2010–2022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crece Luján de Cuyo?</a:t>
            </a:r>
          </a:p>
        </p:txBody>
      </p:sp>
      <p:pic>
        <p:nvPicPr>
          <p:cNvPr id="6" name="Picture 5" descr="mapa-poblacion-luj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83080"/>
            <a:ext cx="6309360" cy="4459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0" y="6262575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Población por distrito, 2022 · Gran Mendoza y Luján de Cuyo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4800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1" i="0">
                <a:solidFill>
                  <a:srgbClr val="2B3038"/>
                </a:solidFill>
                <a:latin typeface="Calibri"/>
              </a:rPr>
              <a:t>Carrodilla (30.469) y Perdriel (24.922)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concentran el mayor tamaño y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El avance urbano ocurre sobre el </a:t>
            </a:r>
            <a:r>
              <a:rPr sz="1900" b="1" i="0">
                <a:solidFill>
                  <a:srgbClr val="2F8F9D"/>
                </a:solidFill>
                <a:latin typeface="Calibri"/>
              </a:rPr>
              <a:t>periurbano regado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: Chacras, Vistalba, Vertientes.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Cada distrito que crece </a:t>
            </a:r>
            <a:r>
              <a:rPr sz="1900" b="1" i="0">
                <a:solidFill>
                  <a:srgbClr val="5A8F6B"/>
                </a:solidFill>
                <a:latin typeface="Calibri"/>
              </a:rPr>
              <a:t>urbaniza suelo con derecho de agua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→ más demanda, menos recarga.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09160"/>
            <a:ext cx="4800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709160"/>
            <a:ext cx="480060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928616"/>
            <a:ext cx="439826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2F8F9D"/>
                </a:solidFill>
                <a:latin typeface="Calibri"/>
              </a:rPr>
              <a:t>+42,6%  ·  +50.546 hab.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crecimiento intercensal 2010–2022 en Luján de Cuyo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PROBLEMA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paradoja agua–suelo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8F9D"/>
                </a:solidFill>
                <a:latin typeface="Calibri"/>
              </a:rPr>
              <a:t>GANANCIA PRIVADA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Rezonificar un viñedo a loteo multiplica su valor varias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COSTO COLECTIVO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El mismo acto sella el suelo, elimina recarga, sube la demanda de agua y borra el sumidero de carbono.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→  El incremento de valor es la base natural para financiar la adaptación: </a:t>
            </a:r>
            <a:r>
              <a:rPr sz="2000" b="1" i="0">
                <a:solidFill>
                  <a:srgbClr val="D4C088"/>
                </a:solidFill>
                <a:latin typeface="Calibri"/>
              </a:rPr>
              <a:t>quien causa el costo, financia la respuesta.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EL MARCO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¿Qué es la captura de valor del suelo?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precio del suelo capitaliza la inversión pública, la regulación y el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Buena parte de ese incremento es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«no ganado»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por el propietario (George; Glaeser; Duranton &amp; Puga).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Recuperarlo para la ciudad es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eficiente y justo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: recae sobre una ganancia que no produjo quien la recibe.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Tradición latinoamericana: valorización (Colombia), CEPACs (São Paulo), Estatuto de la Ciudad (Brasil). </a:t>
            </a:r>
            <a:r>
              <a:rPr sz="1500" b="0" i="1">
                <a:solidFill>
                  <a:srgbClr val="6F7D94"/>
                </a:solidFill>
                <a:latin typeface="Calibri"/>
              </a:rPr>
              <a:t>La brecha que este caso cierra: unir la LVC con el financiamiento climático (Dunning &amp; Lord, 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POR QUÉ IMPORTA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El dinero sigue la </a:t>
            </a:r>
            <a:r>
              <a:rPr sz="3600" b="1" i="0">
                <a:solidFill>
                  <a:srgbClr val="B1456A"/>
                </a:solidFill>
                <a:latin typeface="Calibri"/>
              </a:rPr>
              <a:t>capacidad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, no la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necesidad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32918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291840" cy="635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59736"/>
            <a:ext cx="2889504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USD 147
mil M/año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adaptación que necesitan las ciudades en desarrollo a 2030 (CCFLA,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86000"/>
            <a:ext cx="7040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El financiamiento fluye a las metrópolis con más capacidad, no a las más expuestas (Clifton et al., 2025).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Las ciudades intermedias quedan atrapadas: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sin capacidad no acceden; sin acceso no construyen capacidad.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 salida: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generar recurso propio, predecible y 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— la «llave» que pide el financista.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LA INNOVACIÓN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6596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Crear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obra · rezonificación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2651760"/>
            <a:ext cx="196596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Capturar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6 instrumentos LVC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2651760"/>
            <a:ext cx="196596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07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5869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Blindar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2651760"/>
            <a:ext cx="196596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Redistribuir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116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60" y="2651760"/>
            <a:ext cx="196596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Apalancar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575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bono verde · multilaterales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La coordinación es lo que convierte 6 cargos modestos en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sistema bancable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4C088"/>
                </a:solidFill>
                <a:latin typeface="Calibri"/>
              </a:rPr>
              <a:t>SECCIÓN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Cada uno captura el incremento de valor en un punto distinto del ciclo de desarrollo.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8744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Sobretasa a baldíos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Suelo Creado / DCA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712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3712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Incentivos fiscales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8744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984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Transferencia de Derechos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1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del mayor valor que una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obra pública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genera en los inmuebles vecinos.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incremento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una «zona de beneficio» delimitada por SIG.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Doble función: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financia la obra hídrica y demuestra, en efectivo, que rindió.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2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 la plusvalía por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rezonificación o mayor intensidad de uso.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diferencial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 valor antes / después.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la lógica del sistema en miniatura: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el acto que genera el costo es el que paga la respuesta.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INSTRUMENTO 3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Aporte de las parcelas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servidas pero ociosas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dentro del perímetro urbano.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Recargo progresivo: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+100%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estándar y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+200%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vacíos prioritarios.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Promueve el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desarrollo compacto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usando el padrón que ya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24028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0" y="2240280"/>
            <a:ext cx="2697480" cy="635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45973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5A8F6B"/>
                </a:solidFill>
                <a:latin typeface="Calibri"/>
              </a:rPr>
              <a:t>5.315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lotes alcanzados (2026)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657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3657600"/>
            <a:ext cx="2697480" cy="635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387705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B8860B"/>
                </a:solidFill>
                <a:latin typeface="Calibri"/>
              </a:rPr>
              <a:t>~ARS 345 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/año  ≈ USD 277.500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 4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Vende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derecho a construir por encima de una «línea de base».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Modelo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CEPAC (São Paulo)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adaptado a ciudad intermedia.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COS 2026: de 10 m a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36 m (~8,7 pisos extra)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sólo vía compra; bonos por eficiencia hídrica.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INSTRUMENTOS 5 Y 6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530352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Incentivos fiscales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Un «gradiente verde»: descuentos por eficiencia hídrica, permeabilidad y arbolado. Sin adaptación, cargo pleno; con adaptación, alivio fiscal.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30352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Transferencia de Derechos (TDR)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Proteger recarga, riberas y agro sin comprar el suelo: las zonas emisoras venden sus derechos a zonas receptoras vía mercado.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4C088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574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1463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B9C0CA"/>
                </a:solidFill>
                <a:latin typeface="Calibri"/>
              </a:rPr>
              <a:t>2021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60.700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80360"/>
            <a:ext cx="109728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DDEAE1"/>
                </a:solidFill>
                <a:latin typeface="Calibri"/>
              </a:rPr>
              <a:t>2025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690.500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880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2514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11×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 cuatro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Prueba de concepto, en efectivo: un cargo ligado al suelo escala en pocos años.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10789920" cy="530352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657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57400"/>
            <a:ext cx="2651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DISPARADOR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24688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TASA /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057400"/>
            <a:ext cx="1280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8775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877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877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Obra pública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5877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incremento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5877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9067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906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Rezonificación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0906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diferencial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0906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9359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Sobretasa a baldíos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9359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Lote ocioso servido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59359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+100% / +200%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59359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OPERATIVO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9651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9651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Suelo Creado / DCA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09651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Edificar sobre la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096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 (COS 2026)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09651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59943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9943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Incentivos fiscales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9943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Diseño climático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459943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Alivio variable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59943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10235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1023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Transferencia de Derechos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1023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Zona receptora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51023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1023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0527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052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Aporte Agua y Cloaca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56052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Nuevo desarrollo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56052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Tarifaria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6052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 · 11×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EN CONCRETO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¿Y esto a quién le toca?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361188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1456A"/>
                </a:solidFill>
                <a:latin typeface="Calibri"/>
              </a:rPr>
              <a:t>Un baldío servido y ocioso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Paga la sobretasa (+100% / +200%). El incentivo es claro: construir o vender, no especular.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2148840"/>
            <a:ext cx="361188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8860B"/>
                </a:solidFill>
                <a:latin typeface="Calibri"/>
              </a:rPr>
              <a:t>Un loteo o rezonificación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Aporta parte del mayor valor que la ciudad le crea (30–50% del diferencial).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21624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21624" y="2148840"/>
            <a:ext cx="36118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5A8F6B"/>
                </a:solidFill>
                <a:latin typeface="Calibri"/>
              </a:rPr>
              <a:t>Una familia en su vivienda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5944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No paga ningún cargo nuevo. Y puede acceder a alivios por eficiencia hídrica y arbolado.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Paga quien </a:t>
            </a:r>
            <a:r>
              <a:rPr sz="1800" b="1" i="0">
                <a:solidFill>
                  <a:srgbClr val="B8860B"/>
                </a:solidFill>
                <a:latin typeface="Calibri"/>
              </a:rPr>
              <a:t>se beneficia del cambio de suelo</a:t>
            </a:r>
            <a:r>
              <a:rPr sz="1800" b="0" i="0">
                <a:solidFill>
                  <a:srgbClr val="2B3038"/>
                </a:solidFill>
                <a:latin typeface="Calibri"/>
              </a:rPr>
              <a:t> — no el vecino que ya vive en su casa.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LA ARQUITECTURA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¿Por qué un </a:t>
            </a:r>
            <a:r>
              <a:rPr sz="3600" b="1" i="0">
                <a:solidFill>
                  <a:srgbClr val="B8860B"/>
                </a:solidFill>
                <a:latin typeface="Calibri"/>
              </a:rPr>
              <a:t>Fideicomiso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Recurso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legalmente separado del presupuesto general.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«colateral»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que un banco o un bono puede ver y auditar.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Gobernanza que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blinda los recursos entre gestiones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directorio + externos, auditoría publicada.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40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128016" cy="10058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240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F8F9D"/>
                </a:solidFill>
                <a:latin typeface="Calibri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240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383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3383280"/>
            <a:ext cx="128016" cy="1005840"/>
          </a:xfrm>
          <a:prstGeom prst="rect">
            <a:avLst/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F7D94"/>
                </a:solidFill>
                <a:latin typeface="Calibri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383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526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526280"/>
            <a:ext cx="128016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526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8860B"/>
                </a:solidFill>
                <a:latin typeface="Calibri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526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Cuenta de Apalancamiento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GARANTÍAS Y GESTIÓN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No es una caja: controles y primeras obras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FF1F4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521208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E5869"/>
                </a:solidFill>
                <a:latin typeface="Calibri"/>
              </a:rPr>
              <a:t>CONTROLES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Directorio con un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externo del Concejo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Auditoría independiente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con informe público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Mayoría calificada: </a:t>
            </a:r>
            <a:r>
              <a:rPr sz="1700" b="1" i="0">
                <a:solidFill>
                  <a:srgbClr val="B8860B"/>
                </a:solidFill>
                <a:latin typeface="Calibri"/>
              </a:rPr>
              <a:t>blindado entre gestiones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57400"/>
            <a:ext cx="52120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A8F6B"/>
                </a:solidFill>
                <a:latin typeface="Calibri"/>
              </a:rPr>
              <a:t>PRIMERAS OBRAS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Microplazas en distritos </a:t>
            </a:r>
            <a:r>
              <a:rPr sz="1700" b="1" i="0">
                <a:solidFill>
                  <a:srgbClr val="B1456A"/>
                </a:solidFill>
                <a:latin typeface="Calibri"/>
              </a:rPr>
              <a:t>D/E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 (ARS 1.200 M).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Red hídrica prioritaria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donde más falta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Plan de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arbolado y permeabilidad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436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Reglas claras + obras visibles el primer año: así se sostiene política y socialmente.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DE RECURSO PROPIO A CAPITAL GLOBAL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La Cuenta de Apalancamiento (~USD 0,45 M/año) ancla la contrapartida de 10–30%.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3429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91640" y="3429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429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38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Emitir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931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Bono verde de 3–4× la recaudación anual (~USD 9–12 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4572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80" y="4572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4572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81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El historial abre facilidades mayores: CAF, BID, GCF.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La credibilidad, como el capital, se acumula.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Espacios verdes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3712" y="2331720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Movilidad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2331720"/>
            <a:ext cx="365760" cy="365760"/>
          </a:xfrm>
          <a:prstGeom prst="ellipse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3282696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Servicios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3712" y="3282696"/>
            <a:ext cx="365760" cy="365760"/>
          </a:xfrm>
          <a:prstGeom prst="ellipse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Equidad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38744" y="3282696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7384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Infraestructura agua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2768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2768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59736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9736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C9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6704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33672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33672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206240"/>
            <a:ext cx="5943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B3038"/>
                </a:solidFill>
                <a:latin typeface="Calibri"/>
              </a:rPr>
              <a:t>Escala A (≥90%) … E (&lt;25%).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Menor nota = mayor prioridad: el dinero va a la necesidad.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EN ACCIÓN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Priorización de Infraestructura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Traduce el ICD en un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diagnóstico territorial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6 ejes, 10 indicadores, distrito por distrito.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Cada indicador se compara con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valor deseado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y se clasifica en tres niveles.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Orienta la inversión hacia las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brechas reales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no hacia la capacidad de gasto.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972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78892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88920"/>
            <a:ext cx="118872" cy="841248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8892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Compacidad: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dimensión más crítica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74904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3749040"/>
            <a:ext cx="118872" cy="841248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74904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A8F6B"/>
                </a:solidFill>
                <a:latin typeface="Calibri"/>
              </a:rPr>
              <a:t>Movilidad: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mejor cubierta (80% óptimo)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70916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4709160"/>
            <a:ext cx="118872" cy="8412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0916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860B"/>
                </a:solidFill>
                <a:latin typeface="Calibri"/>
              </a:rPr>
              <a:t>Equidad: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ningún distrito llega al óptimo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578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E5869"/>
                </a:solidFill>
                <a:latin typeface="Calibri"/>
              </a:rPr>
              <a:t>Ranking general: </a:t>
            </a:r>
            <a:r>
              <a:rPr sz="1600" b="0" i="0">
                <a:solidFill>
                  <a:srgbClr val="2B3038"/>
                </a:solidFill>
                <a:latin typeface="Calibri"/>
              </a:rPr>
              <a:t>Ciudad y La Puntilla lideran; Industrial y Vertientes de Pedemonte muestran las mayores brechas.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Ejercicio piloto CIPUV–UTDT · fuente: Municipalidad de Luján de Cuyo e INDEC.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EL DIAGNÓSTICO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Puntaje de infraestructura por distrito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Ciudad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889519"/>
            <a:ext cx="7223760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2" y="187451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255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 Puntilla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2177555"/>
            <a:ext cx="6191794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8186" y="216255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5059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Mayor Drummond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465591"/>
            <a:ext cx="4643845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80237" y="245059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3862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Vistalba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2753627"/>
            <a:ext cx="4643845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0237" y="273862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2666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Chacras de Coria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63240" y="3041663"/>
            <a:ext cx="4127862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4254" y="302666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31469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Carrodilla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3329699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8272" y="331469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0273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Agrelo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617735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360273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89077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Ugarteche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3905771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389077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7880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Las Compuertas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3240" y="4193807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2289" y="417880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46684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Perdriel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4481843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2289" y="446684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75487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Potrerillos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63240" y="4769879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2289" y="475487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04291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El Carrizal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5057915"/>
            <a:ext cx="2579914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6306" y="504291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33095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Cacheuta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63240" y="5345951"/>
            <a:ext cx="2063931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00323" y="533095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61898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Vertientes de Pedemonte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5633987"/>
            <a:ext cx="1547948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84340" y="561898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90702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Industrial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063240" y="5922023"/>
            <a:ext cx="1031965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68357" y="590702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561320" y="1965960"/>
            <a:ext cx="1463040" cy="2148840"/>
          </a:xfrm>
          <a:prstGeom prst="roundRect">
            <a:avLst>
              <a:gd name="adj" fmla="val 8000"/>
            </a:avLst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16768" y="2148840"/>
            <a:ext cx="1234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4E5869"/>
                </a:solidFill>
                <a:latin typeface="Calibri"/>
              </a:rPr>
              <a:t>Puntaje ICD /11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A8F6B"/>
                </a:solidFill>
                <a:latin typeface="Calibri"/>
              </a:rPr>
              <a:t>≥5  lidera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8860B"/>
                </a:solidFill>
                <a:latin typeface="Calibri"/>
              </a:rPr>
              <a:t>3–4,5  medio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1456A"/>
                </a:solidFill>
                <a:latin typeface="Calibri"/>
              </a:rPr>
              <a:t>≤2,5  déficit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4480560"/>
            <a:ext cx="3291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B3038"/>
                </a:solidFill>
                <a:latin typeface="Calibri"/>
              </a:rPr>
              <a:t>Menor puntaje = </a:t>
            </a:r>
            <a:r>
              <a:rPr sz="1500" b="1" i="0">
                <a:solidFill>
                  <a:srgbClr val="B1456A"/>
                </a:solidFill>
                <a:latin typeface="Calibri"/>
              </a:rPr>
              <a:t>mayor prioridad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 de inversión.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2B3038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1">
                <a:solidFill>
                  <a:srgbClr val="4E5869"/>
                </a:solidFill>
                <a:latin typeface="Calibri"/>
              </a:rPr>
              <a:t>El índice manda el dinero a Industrial, Vertientes y Cacheuta —no a Ciudad.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SÍNTESIS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5869"/>
                </a:solidFill>
                <a:latin typeface="Calibri"/>
              </a:rPr>
              <a:t>Tabla Síntesis: los 11 subíndices por distrito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pic>
        <p:nvPicPr>
          <p:cNvPr id="12" name="Picture 11" descr="tabla-sintesis-infraestru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554480"/>
            <a:ext cx="10607040" cy="48286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05332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7A828E"/>
                </a:solidFill>
                <a:latin typeface="Calibri"/>
              </a:rPr>
              <a:t>Cada indicador se pondera sobre 11 puntos: Óptimo 1 · Mínimo 0,5 · Crítico 0 · s/d computa 0.  </a:t>
            </a:r>
            <a:r>
              <a:rPr sz="1150" b="0" i="1">
                <a:solidFill>
                  <a:srgbClr val="6F7D94"/>
                </a:solidFill>
                <a:latin typeface="Calibri"/>
              </a:rPr>
              <a:t>Fuente: elaboración propia CIPUV–UTDT.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QUE CORRIGE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regla que decide dónde invertir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Sin regla, la inversión tiende a ir donde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ya hay capacidad instalada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ICD invierte esa lógica: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prioriza los distritos con mayor déficit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(D/E).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Primer movimiento: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microplazas (ARS 1.200 M) a los barrios que más lo necesitan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El ICD no describe: corrige. Alinea la inversión con la necesidad, no con la capacidad de gasto.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LOS NÚMEROS REALES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Potencial de recaudación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68880"/>
            <a:ext cx="35204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5A8F6B"/>
                </a:solidFill>
                <a:latin typeface="Calibri"/>
              </a:rPr>
              <a:t>~USD 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YA se recauda hoy (2 instrumentos operativos)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468880"/>
            <a:ext cx="35204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B8860B"/>
                </a:solidFill>
                <a:latin typeface="Calibri"/>
              </a:rPr>
              <a:t>~USD 3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potencial del paquete completo (base)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8744" y="2468880"/>
            <a:ext cx="35204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8F9D"/>
                </a:solidFill>
                <a:latin typeface="Calibri"/>
              </a:rPr>
              <a:t>USD 56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brecha de espacio verde → la cierra el bono verde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7A828E"/>
                </a:solidFill>
                <a:latin typeface="Calibri"/>
              </a:rPr>
              <a:t>De ~1 a ~3 con el paquete; y del recurso propio, un salto a decenas con el bono verde.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EQUIDAD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1456A"/>
                </a:solidFill>
                <a:latin typeface="Calibri"/>
              </a:rPr>
              <a:t>PAGA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Quien captura la plusvalía: desarrolladores y dueños de suelo ocioso (bases progresivas).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A8F6B"/>
                </a:solidFill>
                <a:latin typeface="Calibri"/>
              </a:rPr>
              <a:t>SE BENEFICIA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El distrito con menor acceso a verde, agua y servicios (vía ICD).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17720"/>
            <a:ext cx="10789920" cy="1234440"/>
          </a:xfrm>
          <a:prstGeom prst="roundRect">
            <a:avLst>
              <a:gd name="adj" fmla="val 7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149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Con suelo inelástico (límite hídrico), la carga recae en el terrateniente → </a:t>
            </a:r>
            <a:r>
              <a:rPr sz="1900" b="1" i="0">
                <a:solidFill>
                  <a:srgbClr val="D4C088"/>
                </a:solidFill>
                <a:latin typeface="Calibri"/>
              </a:rPr>
              <a:t>un caso deliberadamente progresivo.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NO SÓLO ADAPTACIÓN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Co-beneficios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low-carbon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Premian el desarrollo compacto y orientado al transporte (TOD):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el metrotranvía concentra edificabilidad.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Menos viajes en auto: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menor consumo energético e hídrico per cápita.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Se evita convertir suelo agrícola y de pedemonte: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carbono + recarga preservados.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B8860B"/>
                </a:solidFill>
                <a:latin typeface="Calibri"/>
              </a:rPr>
              <a:t>Adaptación y mitigación: la misma palanca, accionada una sola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4C088"/>
                </a:solidFill>
                <a:latin typeface="Calibri"/>
              </a:rPr>
              <a:t>PARA DISCUTIR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Cinco preguntas para el debate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77440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¿La captura de valor es regresiva o progresiva? ¿De qué depende?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27248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¿Por qué un fideicomiso y no el presupuesto general?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770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77056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¿Qué pasa si el take-up de derechos de construcción es bajo?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26864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2686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¿Lo replicarías en tu ciudad? ¿Qué instrumento primero?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376672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766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76672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¿Cómo se sostiene políticamente entre gestiones?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PARA LLEVARSE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ideas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28016" cy="12344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1.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Una máquina replicable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2057400"/>
            <a:ext cx="128016" cy="12344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2.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Ya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~USD 1 M/año se recauda; el paquete llega a ~USD 3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128016" cy="12344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3.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El fideicomiso es la llave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529584"/>
            <a:ext cx="128016" cy="123444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4.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Equidad por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920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1">
                <a:solidFill>
                  <a:srgbClr val="FFFFFF"/>
                </a:solidFill>
                <a:latin typeface="Calibri"/>
              </a:rPr>
              <a:t>“Una transición justa no se mide por el tamaño del cheque, sino por dónde aterriza.”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