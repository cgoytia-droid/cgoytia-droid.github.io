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Bienvenida. Arranco con calidez y una afirmación grande: 'Vivimos el siglo de las ciudades. Dónde y cómo se construyan en las próximas tres décadas va a decidir buena parte del futuro del clima, de la equidad y de la prosperidad.'</a:t>
            </a:r>
          </a:p>
          <a:p>
            <a:r>
              <a:t>Encuadre: esta charla se apoya en el nuevo manual del Banco Mundial y GFDRR (2025). No es un compendio técnico: es una invitación a cambiar la forma en que planificamos.</a:t>
            </a:r>
          </a:p>
          <a:p>
            <a:r>
              <a:t>Tiempo total objetivo: 20–25 min. Esta slide: ~45 s. Transición: 'Empecemos por entender por qué las ciudades importan tanto.'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Mensaje: la ciudad es el motor de la civilización — riqueza, innovación, empleo, cultura. Recalcar el salto 56% → 70%.</a:t>
            </a:r>
          </a:p>
          <a:p>
            <a:r>
              <a:t>Pausa después de '80% del PBI': 'Si las ciudades fueran un país, serían LA economía mundial.'</a:t>
            </a:r>
          </a:p>
          <a:p>
            <a:r>
              <a:t>Cierre del beat: 'Pero esa misma concentración tiene una contracara.' — puente a la próxima slide. ~1:30.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Tono: bajar la energía, hacerlo humano. 'Detrás de cada porcentaje hay personas.' Subrayar la inequidad: el riesgo no se reparte parejo — lo paga primero quien menos tiene.</a:t>
            </a:r>
          </a:p>
          <a:p>
            <a:r>
              <a:t>Conectar con la región: en América Latina gran parte del crecimiento es informal y en suelo expuesto (agregar ejemplo del AMBA si el público es local).</a:t>
            </a:r>
          </a:p>
          <a:p>
            <a:r>
              <a:t>Transición: '¿Y por qué crece tanto el riesgo? Acá viene lo incómodo.' ~1:30.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Idea central y contraintuitiva: la ciudad no es un escenario pasivo donde 'ocurre' el desastre. La forma en que urbanizamos CREA o REDUCE el riesgo. Es una decisión.</a:t>
            </a:r>
          </a:p>
          <a:p>
            <a:r>
              <a:t>Dejar respirar el ×20 — es el dato que la gente se lleva. 'No es destino. Es la suma de decisiones de planificación que todavía estamos a tiempo de cambiar.'</a:t>
            </a:r>
          </a:p>
          <a:p>
            <a:r>
              <a:t>Transición: 'Si la urbanización crea el riesgo, el problema de fondo está en cómo planificamos.' ~1:20.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de tensión máxima — fondo oscuro a propósito. Hablar más lento. El riesgo se acumula como una deuda que no vemos en el balance, hasta que llega el evento y la pagamos toda junta.</a:t>
            </a:r>
          </a:p>
          <a:p>
            <a:r>
              <a:t>Plantar la pregunta que ordena la charla: '¿Y si la ciudad, en lugar de ser el problema, fuera la solución?' — apenas insinuarla. ~1:00.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Columna vertebral de la charla. El giro: la urbanización no es el enemigo; mal gestionada es riesgo, bien gestionada es resiliencia.</a:t>
            </a:r>
          </a:p>
          <a:p>
            <a:r>
              <a:t>Recorrer los 5 principios con ritmo. Detenerse en el 5: el más esperanzador y político — 'no hay excusa de no tenemos datos: se empieza con lo que hay'. Lo retomamos.</a:t>
            </a:r>
          </a:p>
          <a:p>
            <a:r>
              <a:t>Transición: '¿Hacia qué ciudad queremos ir?' ~1:40.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Slide-respiro, positiva. Leer la definición como una visión, no como un glosario. Recalcar 'vivienda asequible' y 'prosperidad compartida' — el puente entre resiliencia y equidad, el corazón de la agenda.</a:t>
            </a:r>
          </a:p>
          <a:p>
            <a:r>
              <a:t>Transición: 'Esta visión se ordena en cuatro objetivos.' ~0:50.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 cuatro patas de la mesa: Ambiente, Personas, Infraestructura, Economía. Ninguna se sostiene sola; la resiliencia aparece cuando se integran.</a:t>
            </a:r>
          </a:p>
          <a:p>
            <a:r>
              <a:t>Clave de gobernanza: NO lo hace sólo el planificador urbano. Requiere sentar en la misma mesa a planificación + DRM + CRM. Romper los silos es la mitad del trabajo.</a:t>
            </a:r>
          </a:p>
          <a:p>
            <a:r>
              <a:t>Transición: '¿Cómo se traduce en la práctica? Primero, un cambio de actitud.' ~1:10.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Mensaje económico (tu fuerte): cada peso en prevención rinde mucho más que el gasto en reconstrucción. Reaccionar es caro y tarde; anticipar es barato y a tiempo.</a:t>
            </a:r>
          </a:p>
          <a:p>
            <a:r>
              <a:t>Transición: 'Para anticipar, el manual propone un instrumento simple y potente.' ~0:55.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RCP es lo más 'llevable a casa' de toda la charla. Tres verbos que cualquier intendente entiende: dónde NO construir (Restringir), dónde construir CON cuidado (Condicionar), dónde EMPUJAR desarrollo resiliente (Promover).</a:t>
            </a:r>
          </a:p>
          <a:p>
            <a:r>
              <a:t>Ejemplo: llanura de inundación → Restringir; ladera con buen drenaje y código → Condicionar; área central segura y con servicios → Promover densidad.</a:t>
            </a:r>
          </a:p>
          <a:p>
            <a:r>
              <a:t>Transición: 'Lo mejor: no hace falta un sistema perfecto de datos para empezar.' ~1:15.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profundamente motivacional — el antídoto contra la parálisis. 'No tenemos datos perfectos' NO es excusa. El conocimiento local vale. La perfección es enemiga de la acción.</a:t>
            </a:r>
          </a:p>
          <a:p>
            <a:r>
              <a:t>Enfatizar lo iterativo: se arranca con tamizaje general y, donde el riesgo es alto, se profundiza (modelación hidráulica, microzonificación sísmica, estabilidad de laderas).</a:t>
            </a:r>
          </a:p>
          <a:p>
            <a:r>
              <a:t>Transición: 'A medida que la ciudad madura, la caja de herramientas crece.' ~1:15.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Acá conecto con mi propia agenda de investigación: los instrumentos basados en suelo —la captura de plusvalías— no son un lujo de países ricos; son una vía para FINANCIAR la resiliencia con el propio valor que crea la ciudad.</a:t>
            </a:r>
          </a:p>
          <a:p>
            <a:r>
              <a:t>Mensaje: no es una escalera que separa ricos de pobres; es un camino que toda ciudad puede recorrer.</a:t>
            </a:r>
          </a:p>
          <a:p>
            <a:r>
              <a:t>Transición: 'Todo esto está ordenado en un manual de tres partes.' ~1:10.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Recorrido rápido — dar el mapa, no leer todo. 'Parte I: el por qué y el marco. Parte II: el cómo operativo. Parte III: el recetario por tipo de amenaza.'</a:t>
            </a:r>
          </a:p>
          <a:p>
            <a:r>
              <a:t>Recalcar que es una GUÍA PRÁCTICA, no un compendio exhaustivo: pensada para usarse. ~0:50.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resiliencia es deporte de equipo. Nadie la logra solo. Mirar al público y nombrar quiénes están en la sala (autoridades, colegas, estudiantes) — 'cada uno de ustedes tiene una palanca'.</a:t>
            </a:r>
          </a:p>
          <a:p>
            <a:r>
              <a:t>Subir la energía hacia el cierre. ~0:50.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 con convicción y calma. Bajar el ritmo, contacto visual. Repetir la idea-ancla: la ciudad como solución.</a:t>
            </a:r>
          </a:p>
          <a:p>
            <a:r>
              <a:t>Última frase con énfasis: 'El riesgo se acumula en silencio; la resiliencia se construye con decisiones. Empecemos hoy.' Pausa. Gracias. ~1:00.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Abrir el diálogo con una pregunta al público: '¿Qué instrumento RCP creen que su ciudad podría aplicar mañana?'</a:t>
            </a:r>
          </a:p>
          <a:p>
            <a:r>
              <a:t>Tener a mano ejemplos locales de captura de plusvalías y de zonas de no construcción para responder. Agradecer a los organizadores.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42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42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 rot="21240000">
            <a:off x="-457200" y="2194560"/>
            <a:ext cx="12801600" cy="457200"/>
          </a:xfrm>
          <a:prstGeom prst="roundRect">
            <a:avLst>
              <a:gd name="adj" fmla="val 50000"/>
            </a:avLst>
          </a:prstGeom>
          <a:solidFill>
            <a:srgbClr val="6F7D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 rot="21240000">
            <a:off x="-457200" y="2834640"/>
            <a:ext cx="12801600" cy="292608"/>
          </a:xfrm>
          <a:prstGeom prst="roundRect">
            <a:avLst>
              <a:gd name="adj" fmla="val 50000"/>
            </a:avLst>
          </a:prstGeom>
          <a:solidFill>
            <a:srgbClr val="6F7D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 rot="21240000">
            <a:off x="-457200" y="3657600"/>
            <a:ext cx="12801600" cy="201168"/>
          </a:xfrm>
          <a:prstGeom prst="roundRect">
            <a:avLst>
              <a:gd name="adj" fmla="val 50000"/>
            </a:avLst>
          </a:prstGeom>
          <a:solidFill>
            <a:srgbClr val="6F7D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760720" y="-1097280"/>
            <a:ext cx="7315200" cy="7315200"/>
          </a:xfrm>
          <a:prstGeom prst="ellipse">
            <a:avLst/>
          </a:prstGeom>
          <a:solidFill>
            <a:srgbClr val="6F7D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554480"/>
            <a:ext cx="7863840" cy="3566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40000" dir="5400000" rotWithShape="0">
              <a:srgbClr val="28323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554480"/>
            <a:ext cx="76200" cy="356616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18288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8860B"/>
                </a:solidFill>
                <a:latin typeface="Verdana"/>
              </a:rPr>
              <a:t>PLANIFICACIÓN URBANA INFORMADA POR EL RIESGO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240280"/>
            <a:ext cx="73152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4E5869"/>
                </a:solidFill>
                <a:latin typeface="Verdana"/>
              </a:rPr>
              <a:t>Ciudades Habitables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4E5869"/>
                </a:solidFill>
                <a:latin typeface="Verdana"/>
              </a:rPr>
              <a:t>y Resilientes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977639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2B3038"/>
                </a:solidFill>
                <a:latin typeface="Verdana"/>
              </a:rPr>
              <a:t>Integrar la información de </a:t>
            </a:r>
            <a:r>
              <a:rPr sz="1600" b="1" i="0">
                <a:solidFill>
                  <a:srgbClr val="3A4250"/>
                </a:solidFill>
                <a:latin typeface="Verdana"/>
              </a:rPr>
              <a:t>amenazas y riesgos</a:t>
            </a:r>
            <a:r>
              <a:rPr sz="1600" b="0" i="0">
                <a:solidFill>
                  <a:srgbClr val="2B3038"/>
                </a:solidFill>
                <a:latin typeface="Verdana"/>
              </a:rPr>
              <a:t> en la planificación urbana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526280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A4250"/>
                </a:solidFill>
                <a:latin typeface="Verdana"/>
              </a:rPr>
              <a:t>Prof. Cynthia Goytia (PhD)</a:t>
            </a:r>
            <a:r>
              <a:rPr sz="1300" b="0" i="0">
                <a:solidFill>
                  <a:srgbClr val="4E5869"/>
                </a:solidFill>
                <a:latin typeface="Verdana"/>
              </a:rPr>
              <a:t>  ·  Economía Urbana · UTDT — CIPUV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7A828E"/>
                </a:solidFill>
                <a:latin typeface="Verdana"/>
              </a:rPr>
              <a:t>A partir del Handbook for Livable and Resilient Cities · World Bank · GFDRR ·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22920"/>
            <a:ext cx="50800" cy="25603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02920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8860B"/>
                </a:solidFill>
                <a:latin typeface="Verdana"/>
              </a:rPr>
              <a:t>EL SIGLO DE LAS CIUDADES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4E5869"/>
                </a:solidFill>
                <a:latin typeface="Verdana"/>
              </a:rPr>
              <a:t>Las ciudades concentran el futuro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349240" cy="1691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  <a:effectLst>
            <a:outerShdw blurRad="90000" dist="40000" dir="5400000" rotWithShape="0">
              <a:srgbClr val="28323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5349240" cy="508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93392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4E5869"/>
                </a:solidFill>
                <a:latin typeface="Verdana"/>
              </a:rPr>
              <a:t>70%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C636E"/>
                </a:solidFill>
                <a:latin typeface="Verdana"/>
              </a:rPr>
              <a:t>de la población mundial vivirá en ciudades hacia 2050 (hoy 56%) · ~7.000 millones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349240" cy="1691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  <a:effectLst>
            <a:outerShdw blurRad="90000" dist="40000" dir="5400000" rotWithShape="0">
              <a:srgbClr val="28323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828800"/>
            <a:ext cx="5349240" cy="508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993392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4E5869"/>
                </a:solidFill>
                <a:latin typeface="Verdana"/>
              </a:rPr>
              <a:t>80%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743200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C636E"/>
                </a:solidFill>
                <a:latin typeface="Verdana"/>
              </a:rPr>
              <a:t>del PBI global se produce en áreas urbanas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94760"/>
            <a:ext cx="5349240" cy="1691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  <a:effectLst>
            <a:outerShdw blurRad="90000" dist="40000" dir="5400000" rotWithShape="0">
              <a:srgbClr val="28323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794760"/>
            <a:ext cx="5349240" cy="508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959352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4E5869"/>
                </a:solidFill>
                <a:latin typeface="Verdana"/>
              </a:rPr>
              <a:t>70%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709160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C636E"/>
                </a:solidFill>
                <a:latin typeface="Verdana"/>
              </a:rPr>
              <a:t>de las emisiones de GEI ocurren en ciudades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794760"/>
            <a:ext cx="5349240" cy="1691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  <a:effectLst>
            <a:outerShdw blurRad="90000" dist="40000" dir="5400000" rotWithShape="0">
              <a:srgbClr val="28323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794760"/>
            <a:ext cx="5349240" cy="508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959352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4E5869"/>
                </a:solidFill>
                <a:latin typeface="Verdana"/>
              </a:rPr>
              <a:t>70%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709160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C636E"/>
                </a:solidFill>
                <a:latin typeface="Verdana"/>
              </a:rPr>
              <a:t>del consumo energético mundial es urbano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7A828E"/>
                </a:solidFill>
                <a:latin typeface="Verdana"/>
              </a:rPr>
              <a:t>Fuente: World Bank 2022a · Our World in Data 2025 (Fig. 1.1).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28E"/>
                </a:solidFill>
                <a:latin typeface="Verdana"/>
              </a:rPr>
              <a:t>Handbook for Livable &amp; Resilient Cities  ·  </a:t>
            </a:r>
            <a:r>
              <a:rPr sz="900" b="1" i="0">
                <a:solidFill>
                  <a:srgbClr val="6F7D94"/>
                </a:solidFill>
                <a:latin typeface="Verdana"/>
              </a:rPr>
              <a:t>World Bank / GFDRR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22920"/>
            <a:ext cx="50800" cy="25603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02920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8860B"/>
                </a:solidFill>
                <a:latin typeface="Verdana"/>
              </a:rPr>
              <a:t>LA CONTRACARA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4E5869"/>
                </a:solidFill>
                <a:latin typeface="Verdana"/>
              </a:rPr>
              <a:t>…y también concentran el </a:t>
            </a:r>
            <a:r>
              <a:rPr sz="3400" b="1" i="0">
                <a:solidFill>
                  <a:srgbClr val="B8860B"/>
                </a:solidFill>
                <a:latin typeface="Verdana"/>
              </a:rPr>
              <a:t>riesgo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3291840" cy="411480"/>
          </a:xfrm>
          <a:prstGeom prst="roundRect">
            <a:avLst>
              <a:gd name="adj" fmla="val 50000"/>
            </a:avLst>
          </a:prstGeom>
          <a:solidFill>
            <a:srgbClr val="4E58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3291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Verdana"/>
              </a:rPr>
              <a:t>679 GRANDES CIUDADES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6035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B3038"/>
                </a:solidFill>
                <a:latin typeface="Verdana"/>
              </a:rPr>
              <a:t>(≥500.000 hab.) analizadas frente a ciclones, inundaciones, sequías, sismos, deslizamientos y erupciones.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291840"/>
            <a:ext cx="109728" cy="109728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2004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A4250"/>
                </a:solidFill>
                <a:latin typeface="Verdana"/>
              </a:rPr>
              <a:t>59%</a:t>
            </a:r>
            <a:r>
              <a:rPr sz="1600" b="0" i="0">
                <a:solidFill>
                  <a:srgbClr val="2B3038"/>
                </a:solidFill>
                <a:latin typeface="Verdana"/>
              </a:rPr>
              <a:t> está expuesta a al menos una amenaza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749040"/>
            <a:ext cx="109728" cy="109728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6576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A4250"/>
                </a:solidFill>
                <a:latin typeface="Verdana"/>
              </a:rPr>
              <a:t>189 ciudades</a:t>
            </a:r>
            <a:r>
              <a:rPr sz="1600" b="0" i="0">
                <a:solidFill>
                  <a:srgbClr val="2B3038"/>
                </a:solidFill>
                <a:latin typeface="Verdana"/>
              </a:rPr>
              <a:t> enfrentan dos o más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206240"/>
            <a:ext cx="109728" cy="109728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1148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A4250"/>
                </a:solidFill>
                <a:latin typeface="Verdana"/>
              </a:rPr>
              <a:t>26 ciudades</a:t>
            </a:r>
            <a:r>
              <a:rPr sz="1600" b="0" i="0">
                <a:solidFill>
                  <a:srgbClr val="2B3038"/>
                </a:solidFill>
                <a:latin typeface="Verdana"/>
              </a:rPr>
              <a:t> enfrentan tres o más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92040"/>
            <a:ext cx="6035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7A828E"/>
                </a:solidFill>
                <a:latin typeface="Verdana"/>
              </a:rPr>
              <a:t>El cambio climático golpea de forma desproporcionada a los más pobres, mujeres, niñas y niños, personas mayores y minorías.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2194560"/>
            <a:ext cx="411480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  <a:effectLst>
            <a:outerShdw blurRad="90000" dist="40000" dir="5400000" rotWithShape="0">
              <a:srgbClr val="28323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0" y="2194560"/>
            <a:ext cx="4114800" cy="63500"/>
          </a:xfrm>
          <a:prstGeom prst="rect">
            <a:avLst/>
          </a:prstGeom>
          <a:solidFill>
            <a:srgbClr val="B14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2514600"/>
            <a:ext cx="4114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0" b="1" i="0">
                <a:solidFill>
                  <a:srgbClr val="B1456A"/>
                </a:solidFill>
                <a:latin typeface="Verdana"/>
              </a:rPr>
              <a:t>59%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3703320"/>
            <a:ext cx="3657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C636E"/>
                </a:solidFill>
                <a:latin typeface="Verdana"/>
              </a:rPr>
              <a:t>de las grandes ciudades del mundo, expuestas a una o más amenazas naturales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7A828E"/>
                </a:solidFill>
                <a:latin typeface="Verdana"/>
              </a:rPr>
              <a:t>Fuente: United Nations 2018 (Fig. 1.2); World Bank 2023b.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28E"/>
                </a:solidFill>
                <a:latin typeface="Verdana"/>
              </a:rPr>
              <a:t>Handbook for Livable &amp; Resilient Cities  ·  </a:t>
            </a:r>
            <a:r>
              <a:rPr sz="900" b="1" i="0">
                <a:solidFill>
                  <a:srgbClr val="6F7D94"/>
                </a:solidFill>
                <a:latin typeface="Verdana"/>
              </a:rPr>
              <a:t>World Bank / GFDRR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22920"/>
            <a:ext cx="50800" cy="25603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02920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8860B"/>
                </a:solidFill>
                <a:latin typeface="Verdana"/>
              </a:rPr>
              <a:t>LA PARADOJA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4E5869"/>
                </a:solidFill>
                <a:latin typeface="Verdana"/>
              </a:rPr>
              <a:t>La urbanización </a:t>
            </a:r>
            <a:r>
              <a:rPr sz="3400" b="1" i="1">
                <a:solidFill>
                  <a:srgbClr val="B8860B"/>
                </a:solidFill>
                <a:latin typeface="Verdana"/>
              </a:rPr>
              <a:t>misma</a:t>
            </a:r>
            <a:r>
              <a:rPr sz="3400" b="1" i="0">
                <a:solidFill>
                  <a:srgbClr val="4E5869"/>
                </a:solidFill>
                <a:latin typeface="Verdana"/>
              </a:rPr>
              <a:t> produce riesgo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984247"/>
            <a:ext cx="128016" cy="128016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74519"/>
            <a:ext cx="10241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B3038"/>
                </a:solidFill>
                <a:latin typeface="Verdana"/>
              </a:rPr>
              <a:t>La expansión urbana supera el crecimiento de la población hasta en un 50%: transforma el suelo, fragmenta ecosistemas y concentra gente y activos en zonas peligrosas.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852927"/>
            <a:ext cx="128016" cy="128016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743199"/>
            <a:ext cx="10241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B3038"/>
                </a:solidFill>
                <a:latin typeface="Verdana"/>
              </a:rPr>
              <a:t>El desarrollo urbano genera nuevos riesgos: inundación por superficies impermeables, deslizamientos en laderas desestabilizadas.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721607"/>
            <a:ext cx="128016" cy="128016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611879"/>
            <a:ext cx="10241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B3038"/>
                </a:solidFill>
                <a:latin typeface="Verdana"/>
              </a:rPr>
              <a:t>Los desastres climáticos se duplicaron con creces en los últimos 40 años.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617720"/>
            <a:ext cx="10881360" cy="1051560"/>
          </a:xfrm>
          <a:prstGeom prst="roundRect">
            <a:avLst>
              <a:gd name="adj" fmla="val 6000"/>
            </a:avLst>
          </a:prstGeom>
          <a:solidFill>
            <a:srgbClr val="F1E9E6"/>
          </a:solidFill>
          <a:ln w="12700">
            <a:solidFill>
              <a:srgbClr val="E3C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617720"/>
            <a:ext cx="86868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A4250"/>
                </a:solidFill>
                <a:latin typeface="Verdana"/>
              </a:rPr>
              <a:t>⚠  El daño por inundaciones fluviales podría multiplicarse hacia fin de siglo si no se actúa.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4617720"/>
            <a:ext cx="18288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B8860B"/>
                </a:solidFill>
                <a:latin typeface="Verdana"/>
              </a:rPr>
              <a:t>×20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7A828E"/>
                </a:solidFill>
                <a:latin typeface="Verdana"/>
              </a:rPr>
              <a:t>Fuente: CRED &amp; UNDRR 2019; Winsemius et al. 2016.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42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22920"/>
            <a:ext cx="50800" cy="256032"/>
          </a:xfrm>
          <a:prstGeom prst="rect">
            <a:avLst/>
          </a:prstGeom>
          <a:solidFill>
            <a:srgbClr val="D4C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02920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D4C088"/>
                </a:solidFill>
                <a:latin typeface="Verdana"/>
              </a:rPr>
              <a:t>EL PROBLEMA DE FONDO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Verdana"/>
              </a:rPr>
              <a:t>Planificamos </a:t>
            </a:r>
            <a:r>
              <a:rPr sz="3400" b="1" i="1">
                <a:solidFill>
                  <a:srgbClr val="D4C088"/>
                </a:solidFill>
                <a:latin typeface="Verdana"/>
              </a:rPr>
              <a:t>sin mirar el riesgo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8046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DFE3E9"/>
                </a:solidFill>
                <a:latin typeface="Verdana"/>
              </a:rPr>
              <a:t>La planificación urbana convencional suele ignorar las amenazas existentes y las vulnerabilidades de largo plazo.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8412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DFE3E9"/>
                </a:solidFill>
                <a:latin typeface="Verdana"/>
              </a:rPr>
              <a:t>Resultado: una </a:t>
            </a:r>
            <a:r>
              <a:rPr sz="2000" b="1" i="0">
                <a:solidFill>
                  <a:srgbClr val="D4C088"/>
                </a:solidFill>
                <a:latin typeface="Verdana"/>
              </a:rPr>
              <a:t>acumulación silenciosa de riesgo</a:t>
            </a:r>
            <a:r>
              <a:rPr sz="2000" b="0" i="0">
                <a:solidFill>
                  <a:srgbClr val="DFE3E9"/>
                </a:solidFill>
                <a:latin typeface="Verdana"/>
              </a:rPr>
              <a:t> que deja a las ciudades mal preparadas para los shocks presentes y futuros.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75488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Verdana"/>
              </a:rPr>
              <a:t>Hace falta un enfoque nuevo.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22920"/>
            <a:ext cx="50800" cy="25603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02920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8860B"/>
                </a:solidFill>
                <a:latin typeface="Verdana"/>
              </a:rPr>
              <a:t>EL CAMBIO DE PARADIGMA · FIGURA ES.1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4E5869"/>
                </a:solidFill>
                <a:latin typeface="Verdana"/>
              </a:rPr>
              <a:t>De motor del riesgo a </a:t>
            </a:r>
            <a:r>
              <a:rPr sz="3000" b="1" i="0">
                <a:solidFill>
                  <a:srgbClr val="B8860B"/>
                </a:solidFill>
                <a:latin typeface="Verdana"/>
              </a:rPr>
              <a:t>catalizador de resiliencia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4754880" cy="1143000"/>
          </a:xfrm>
          <a:prstGeom prst="roundRect">
            <a:avLst>
              <a:gd name="adj" fmla="val 6000"/>
            </a:avLst>
          </a:prstGeom>
          <a:solidFill>
            <a:srgbClr val="F1E9E6"/>
          </a:solidFill>
          <a:ln w="12700">
            <a:solidFill>
              <a:srgbClr val="E3C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42976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1456A"/>
                </a:solidFill>
                <a:latin typeface="Verdana"/>
              </a:rPr>
              <a:t>Ciudades como focos de riesgo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B3038"/>
                </a:solidFill>
                <a:latin typeface="Verdana"/>
              </a:rPr>
              <a:t>La urbanización como motor de exposición y riesgo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532120" y="2057400"/>
            <a:ext cx="914400" cy="594360"/>
          </a:xfrm>
          <a:prstGeom prst="rightArrow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37960" y="1783080"/>
            <a:ext cx="4754880" cy="1143000"/>
          </a:xfrm>
          <a:prstGeom prst="roundRect">
            <a:avLst>
              <a:gd name="adj" fmla="val 6000"/>
            </a:avLst>
          </a:prstGeom>
          <a:solidFill>
            <a:srgbClr val="E7F0EA"/>
          </a:solidFill>
          <a:ln w="12700">
            <a:solidFill>
              <a:srgbClr val="C5DD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920240"/>
            <a:ext cx="42976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5A8F6B"/>
                </a:solidFill>
                <a:latin typeface="Verdana"/>
              </a:rPr>
              <a:t>Ciudades como parte de la solución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B3038"/>
                </a:solidFill>
                <a:latin typeface="Verdana"/>
              </a:rPr>
              <a:t>La urbanización como motor de capacidad y resiliencia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089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A828E"/>
                </a:solidFill>
                <a:latin typeface="Verdana"/>
              </a:rPr>
              <a:t>Cinco principios que sostienen el giro: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474720"/>
            <a:ext cx="2084831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5230368"/>
            <a:ext cx="2084831" cy="50800"/>
          </a:xfrm>
          <a:prstGeom prst="rect">
            <a:avLst/>
          </a:prstGeom>
          <a:solidFill>
            <a:srgbClr val="6F7D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611880"/>
            <a:ext cx="17190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B8860B"/>
                </a:solidFill>
                <a:latin typeface="Verdana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114800"/>
            <a:ext cx="1719071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038"/>
                </a:solidFill>
                <a:latin typeface="Verdana"/>
              </a:rPr>
              <a:t>Las amenazas urbanas son multifacéticas, no sólo naturales.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34639" y="3474720"/>
            <a:ext cx="2084831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34639" y="5230368"/>
            <a:ext cx="2084831" cy="50800"/>
          </a:xfrm>
          <a:prstGeom prst="rect">
            <a:avLst/>
          </a:prstGeom>
          <a:solidFill>
            <a:srgbClr val="6F7D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19" y="3611880"/>
            <a:ext cx="17190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B8860B"/>
                </a:solidFill>
                <a:latin typeface="Verdana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19" y="4114800"/>
            <a:ext cx="1719071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038"/>
                </a:solidFill>
                <a:latin typeface="Verdana"/>
              </a:rPr>
              <a:t>Planificar exige integrar riesgos presentes y futuros.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198" y="3474720"/>
            <a:ext cx="2084831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198" y="5230368"/>
            <a:ext cx="2084831" cy="50800"/>
          </a:xfrm>
          <a:prstGeom prst="rect">
            <a:avLst/>
          </a:prstGeom>
          <a:solidFill>
            <a:srgbClr val="6F7D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8" y="3611880"/>
            <a:ext cx="17190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B8860B"/>
                </a:solidFill>
                <a:latin typeface="Verdana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8" y="4114800"/>
            <a:ext cx="1719071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038"/>
                </a:solidFill>
                <a:latin typeface="Verdana"/>
              </a:rPr>
              <a:t>La planificación sistémica e informada por el riesgo es la base.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7" y="3474720"/>
            <a:ext cx="2084831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7" y="5230368"/>
            <a:ext cx="2084831" cy="50800"/>
          </a:xfrm>
          <a:prstGeom prst="rect">
            <a:avLst/>
          </a:prstGeom>
          <a:solidFill>
            <a:srgbClr val="6F7D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37" y="3611880"/>
            <a:ext cx="17190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B8860B"/>
                </a:solidFill>
                <a:latin typeface="Verdana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37" y="4114800"/>
            <a:ext cx="1719071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038"/>
                </a:solidFill>
                <a:latin typeface="Verdana"/>
              </a:rPr>
              <a:t>Integra planificación + DRM + gestión climática.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18316" y="3474720"/>
            <a:ext cx="2084831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418316" y="5230368"/>
            <a:ext cx="2084831" cy="50800"/>
          </a:xfrm>
          <a:prstGeom prst="rect">
            <a:avLst/>
          </a:prstGeom>
          <a:solidFill>
            <a:srgbClr val="6F7D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196" y="3611880"/>
            <a:ext cx="17190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B8860B"/>
                </a:solidFill>
                <a:latin typeface="Verdana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196" y="4114800"/>
            <a:ext cx="1719071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038"/>
                </a:solidFill>
                <a:latin typeface="Verdana"/>
              </a:rPr>
              <a:t>Se puede avanzar aun con datos y capacidades limitadas.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7A828E"/>
                </a:solidFill>
                <a:latin typeface="Verdana"/>
              </a:rPr>
              <a:t>Fuente: World Bank / GFDRR 2025, Figura ES.1.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28E"/>
                </a:solidFill>
                <a:latin typeface="Verdana"/>
              </a:rPr>
              <a:t>Handbook for Livable &amp; Resilient Cities  ·  </a:t>
            </a:r>
            <a:r>
              <a:rPr sz="900" b="1" i="0">
                <a:solidFill>
                  <a:srgbClr val="6F7D94"/>
                </a:solidFill>
                <a:latin typeface="Verdana"/>
              </a:rPr>
              <a:t>World Bank / GFDRR 2025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22920"/>
            <a:ext cx="50800" cy="25603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02920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8860B"/>
                </a:solidFill>
                <a:latin typeface="Verdana"/>
              </a:rPr>
              <a:t>¿QUÉ BUSCAMOS?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4E5869"/>
                </a:solidFill>
                <a:latin typeface="Verdana"/>
              </a:rPr>
              <a:t>Una ciudad habitable y resiliente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0">
                <a:solidFill>
                  <a:srgbClr val="2B3038"/>
                </a:solidFill>
                <a:latin typeface="Verdana"/>
              </a:rPr>
              <a:t>Es aquella —y su entorno— donde se promueven el </a:t>
            </a:r>
            <a:r>
              <a:rPr sz="2200" b="1" i="0">
                <a:solidFill>
                  <a:srgbClr val="5A8F6B"/>
                </a:solidFill>
                <a:latin typeface="Verdana"/>
              </a:rPr>
              <a:t>crecimiento urbano verde</a:t>
            </a:r>
            <a:r>
              <a:rPr sz="2200" b="0" i="0">
                <a:solidFill>
                  <a:srgbClr val="2B3038"/>
                </a:solidFill>
                <a:latin typeface="Verdana"/>
              </a:rPr>
              <a:t>, la </a:t>
            </a:r>
            <a:r>
              <a:rPr sz="2200" b="1" i="0">
                <a:solidFill>
                  <a:srgbClr val="A9897A"/>
                </a:solidFill>
                <a:latin typeface="Verdana"/>
              </a:rPr>
              <a:t>inclusión social</a:t>
            </a:r>
            <a:r>
              <a:rPr sz="2200" b="0" i="0">
                <a:solidFill>
                  <a:srgbClr val="2B3038"/>
                </a:solidFill>
                <a:latin typeface="Verdana"/>
              </a:rPr>
              <a:t>, entornos construidos </a:t>
            </a:r>
            <a:r>
              <a:rPr sz="2200" b="1" i="0">
                <a:solidFill>
                  <a:srgbClr val="B1456A"/>
                </a:solidFill>
                <a:latin typeface="Verdana"/>
              </a:rPr>
              <a:t>resilientes</a:t>
            </a:r>
            <a:r>
              <a:rPr sz="2200" b="0" i="0">
                <a:solidFill>
                  <a:srgbClr val="2B3038"/>
                </a:solidFill>
                <a:latin typeface="Verdana"/>
              </a:rPr>
              <a:t> y la </a:t>
            </a:r>
            <a:r>
              <a:rPr sz="2200" b="1" i="0">
                <a:solidFill>
                  <a:srgbClr val="2F8F9D"/>
                </a:solidFill>
                <a:latin typeface="Verdana"/>
              </a:rPr>
              <a:t>prosperidad compartida</a:t>
            </a:r>
            <a:r>
              <a:rPr sz="2200" b="0" i="0">
                <a:solidFill>
                  <a:srgbClr val="2B3038"/>
                </a:solidFill>
                <a:latin typeface="Verdana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0624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7A828E"/>
                </a:solidFill>
                <a:latin typeface="Verdana"/>
              </a:rPr>
              <a:t>Donde el crecimiento planificado y sostenible asegura acceso a entornos saludables, vivienda asequible, servicios básicos, empleo y transporte de bajo carbono.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28E"/>
                </a:solidFill>
                <a:latin typeface="Verdana"/>
              </a:rPr>
              <a:t>Handbook for Livable &amp; Resilient Cities  ·  </a:t>
            </a:r>
            <a:r>
              <a:rPr sz="900" b="1" i="0">
                <a:solidFill>
                  <a:srgbClr val="6F7D94"/>
                </a:solidFill>
                <a:latin typeface="Verdana"/>
              </a:rPr>
              <a:t>World Bank / GFDRR 2025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22920"/>
            <a:ext cx="50800" cy="25603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02920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8860B"/>
                </a:solidFill>
                <a:latin typeface="Verdana"/>
              </a:rPr>
              <a:t>CUATRO OBJETIVOS · FIGURA ES.2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4E5869"/>
                </a:solidFill>
                <a:latin typeface="Verdana"/>
              </a:rPr>
              <a:t>Metas de la planificación informada por el riesgo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2606040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  <a:effectLst>
            <a:outerShdw blurRad="90000" dist="40000" dir="5400000" rotWithShape="0">
              <a:srgbClr val="28323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63040" y="2263140"/>
            <a:ext cx="960120" cy="960120"/>
          </a:xfrm>
          <a:prstGeom prst="ellipse">
            <a:avLst/>
          </a:prstGeom>
          <a:solidFill>
            <a:srgbClr val="5A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2263140"/>
            <a:ext cx="9601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Verdana"/>
              </a:rPr>
              <a:t>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A828E"/>
                </a:solidFill>
                <a:latin typeface="Verdana"/>
              </a:rPr>
              <a:t>AMBIENTE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03320"/>
            <a:ext cx="2240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5A8F6B"/>
                </a:solidFill>
                <a:latin typeface="Verdana"/>
              </a:rPr>
              <a:t>Crecimiento urbano verde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2011680"/>
            <a:ext cx="2606040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  <a:effectLst>
            <a:outerShdw blurRad="90000" dist="40000" dir="5400000" rotWithShape="0">
              <a:srgbClr val="28323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79392" y="2263140"/>
            <a:ext cx="960120" cy="960120"/>
          </a:xfrm>
          <a:prstGeom prst="ellipse">
            <a:avLst/>
          </a:prstGeom>
          <a:solidFill>
            <a:srgbClr val="A98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9392" y="2263140"/>
            <a:ext cx="9601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Verdana"/>
              </a:rPr>
              <a:t>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34290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A828E"/>
                </a:solidFill>
                <a:latin typeface="Verdana"/>
              </a:rPr>
              <a:t>PERSONAS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3703320"/>
            <a:ext cx="2240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A9897A"/>
                </a:solidFill>
                <a:latin typeface="Verdana"/>
              </a:rPr>
              <a:t>Inclusión social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2011680"/>
            <a:ext cx="2606040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  <a:effectLst>
            <a:outerShdw blurRad="90000" dist="40000" dir="5400000" rotWithShape="0">
              <a:srgbClr val="28323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95744" y="2263140"/>
            <a:ext cx="960120" cy="960120"/>
          </a:xfrm>
          <a:prstGeom prst="ellipse">
            <a:avLst/>
          </a:prstGeom>
          <a:solidFill>
            <a:srgbClr val="B14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95744" y="2263140"/>
            <a:ext cx="9601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Verdana"/>
              </a:rPr>
              <a:t>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34290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A828E"/>
                </a:solidFill>
                <a:latin typeface="Verdana"/>
              </a:rPr>
              <a:t>INFRAESTRUCTURA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3703320"/>
            <a:ext cx="2240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B1456A"/>
                </a:solidFill>
                <a:latin typeface="Verdana"/>
              </a:rPr>
              <a:t>Entorno construido resiliente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89136" y="2011680"/>
            <a:ext cx="2606040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  <a:effectLst>
            <a:outerShdw blurRad="90000" dist="40000" dir="5400000" rotWithShape="0">
              <a:srgbClr val="28323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12096" y="2263140"/>
            <a:ext cx="960120" cy="960120"/>
          </a:xfrm>
          <a:prstGeom prst="ellipse">
            <a:avLst/>
          </a:prstGeom>
          <a:solidFill>
            <a:srgbClr val="2F8F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12096" y="2263140"/>
            <a:ext cx="9601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Verdana"/>
              </a:rPr>
              <a:t>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26296" y="34290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A828E"/>
                </a:solidFill>
                <a:latin typeface="Verdana"/>
              </a:rPr>
              <a:t>ECONOMÍA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72016" y="3703320"/>
            <a:ext cx="2240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F8F9D"/>
                </a:solidFill>
                <a:latin typeface="Verdana"/>
              </a:rPr>
              <a:t>Prosperidad compartida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7A828E"/>
                </a:solidFill>
                <a:latin typeface="Verdana"/>
              </a:rPr>
              <a:t>Fuente: World Bank / GFDRR 2025, Figura ES.2. Requiere colaboración entre planificación urbana, gestión del riesgo de desastres (DRM) y gestión del riesgo climático (CRM).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28E"/>
                </a:solidFill>
                <a:latin typeface="Verdana"/>
              </a:rPr>
              <a:t>Handbook for Livable &amp; Resilient Cities  ·  </a:t>
            </a:r>
            <a:r>
              <a:rPr sz="900" b="1" i="0">
                <a:solidFill>
                  <a:srgbClr val="6F7D94"/>
                </a:solidFill>
                <a:latin typeface="Verdana"/>
              </a:rPr>
              <a:t>World Bank / GFDRR 2025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22920"/>
            <a:ext cx="50800" cy="25603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02920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8860B"/>
                </a:solidFill>
                <a:latin typeface="Verdana"/>
              </a:rPr>
              <a:t>LA SOLUCIÓN, EN UNA FRASE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4E5869"/>
                </a:solidFill>
                <a:latin typeface="Verdana"/>
              </a:rPr>
              <a:t>De </a:t>
            </a:r>
            <a:r>
              <a:rPr sz="3400" b="1" i="1">
                <a:solidFill>
                  <a:srgbClr val="B1456A"/>
                </a:solidFill>
                <a:latin typeface="Verdana"/>
              </a:rPr>
              <a:t>reaccionar</a:t>
            </a:r>
            <a:r>
              <a:rPr sz="3400" b="1" i="0">
                <a:solidFill>
                  <a:srgbClr val="4E5869"/>
                </a:solidFill>
                <a:latin typeface="Verdana"/>
              </a:rPr>
              <a:t> a </a:t>
            </a:r>
            <a:r>
              <a:rPr sz="3400" b="1" i="1">
                <a:solidFill>
                  <a:srgbClr val="B8860B"/>
                </a:solidFill>
                <a:latin typeface="Verdana"/>
              </a:rPr>
              <a:t>anticipar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4754880" cy="1280160"/>
          </a:xfrm>
          <a:prstGeom prst="roundRect">
            <a:avLst>
              <a:gd name="adj" fmla="val 6000"/>
            </a:avLst>
          </a:prstGeom>
          <a:solidFill>
            <a:srgbClr val="F1E9E6"/>
          </a:solidFill>
          <a:ln w="12700">
            <a:solidFill>
              <a:srgbClr val="E3C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B1456A"/>
                </a:solidFill>
                <a:latin typeface="Verdana"/>
              </a:rPr>
              <a:t>Enfoque reactivo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B3038"/>
                </a:solidFill>
                <a:latin typeface="Verdana"/>
              </a:rPr>
              <a:t>Respuesta a la emergencia y recuperación después del desastre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532120" y="2286000"/>
            <a:ext cx="914400" cy="594360"/>
          </a:xfrm>
          <a:prstGeom prst="rightArrow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37960" y="1920240"/>
            <a:ext cx="4754880" cy="1280160"/>
          </a:xfrm>
          <a:prstGeom prst="roundRect">
            <a:avLst>
              <a:gd name="adj" fmla="val 6000"/>
            </a:avLst>
          </a:prstGeom>
          <a:solidFill>
            <a:srgbClr val="E7F0EA"/>
          </a:solidFill>
          <a:ln w="12700">
            <a:solidFill>
              <a:srgbClr val="C5DD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210312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5A8F6B"/>
                </a:solidFill>
                <a:latin typeface="Verdana"/>
              </a:rPr>
              <a:t>Enfoque proactivo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B3038"/>
                </a:solidFill>
                <a:latin typeface="Verdana"/>
              </a:rPr>
              <a:t>Prevenir y reducir los impactos antes de que ocurran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49039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2B3038"/>
                </a:solidFill>
                <a:latin typeface="Verdana"/>
              </a:rPr>
              <a:t>Incorporar la prevención al desarrollo urbano permite anticipar amenazas, minimizar pérdidas humanas y económicas y fortalecer la capacidad adaptativa de personas, ecosistemas, infraestructura y medios de vida.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28E"/>
                </a:solidFill>
                <a:latin typeface="Verdana"/>
              </a:rPr>
              <a:t>Handbook for Livable &amp; Resilient Cities  ·  </a:t>
            </a:r>
            <a:r>
              <a:rPr sz="900" b="1" i="0">
                <a:solidFill>
                  <a:srgbClr val="6F7D94"/>
                </a:solidFill>
                <a:latin typeface="Verdana"/>
              </a:rPr>
              <a:t>World Bank / GFDRR 2025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22920"/>
            <a:ext cx="50800" cy="25603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02920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8860B"/>
                </a:solidFill>
                <a:latin typeface="Verdana"/>
              </a:rPr>
              <a:t>EL INSTRUMENTO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4E5869"/>
                </a:solidFill>
                <a:latin typeface="Verdana"/>
              </a:rPr>
              <a:t>El marco </a:t>
            </a:r>
            <a:r>
              <a:rPr sz="3000" b="1" i="0">
                <a:solidFill>
                  <a:srgbClr val="B8860B"/>
                </a:solidFill>
                <a:latin typeface="Verdana"/>
              </a:rPr>
              <a:t>RCP</a:t>
            </a:r>
            <a:r>
              <a:rPr sz="3000" b="1" i="0">
                <a:solidFill>
                  <a:srgbClr val="4E5869"/>
                </a:solidFill>
                <a:latin typeface="Verdana"/>
              </a:rPr>
              <a:t>: dónde y cómo construir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3520440" cy="2926080"/>
          </a:xfrm>
          <a:prstGeom prst="roundRect">
            <a:avLst>
              <a:gd name="adj" fmla="val 5000"/>
            </a:avLst>
          </a:prstGeom>
          <a:solidFill>
            <a:srgbClr val="B1456A"/>
          </a:solidFill>
          <a:ln>
            <a:noFill/>
          </a:ln>
          <a:effectLst/>
          <a:effectLst>
            <a:outerShdw blurRad="90000" dist="40000" dir="5400000" rotWithShape="0">
              <a:srgbClr val="28323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Verdana"/>
              </a:rPr>
              <a:t>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Verdana"/>
              </a:rPr>
              <a:t>Restringir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49039"/>
            <a:ext cx="2971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Verdana"/>
              </a:rPr>
              <a:t>Evitar el desarrollo en zonas de alto peligro: áreas de no construcción, control de la expansión en suelo expuesto.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2011680"/>
            <a:ext cx="3520440" cy="2926080"/>
          </a:xfrm>
          <a:prstGeom prst="roundRect">
            <a:avLst>
              <a:gd name="adj" fmla="val 5000"/>
            </a:avLst>
          </a:prstGeom>
          <a:solidFill>
            <a:srgbClr val="B8860B"/>
          </a:solidFill>
          <a:ln>
            <a:noFill/>
          </a:ln>
          <a:effectLst/>
          <a:effectLst>
            <a:outerShdw blurRad="90000" dist="40000" dir="5400000" rotWithShape="0">
              <a:srgbClr val="28323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219456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Verdana"/>
              </a:rPr>
              <a:t>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324612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Verdana"/>
              </a:rPr>
              <a:t>Condicionar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3749039"/>
            <a:ext cx="2971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Verdana"/>
              </a:rPr>
              <a:t>Permitir construir, pero bajo reglas: retiros, códigos de edificación, estándares de diseño resiliente.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2011680"/>
            <a:ext cx="3520440" cy="2926080"/>
          </a:xfrm>
          <a:prstGeom prst="roundRect">
            <a:avLst>
              <a:gd name="adj" fmla="val 5000"/>
            </a:avLst>
          </a:prstGeom>
          <a:solidFill>
            <a:srgbClr val="2F8F9D"/>
          </a:solidFill>
          <a:ln>
            <a:noFill/>
          </a:ln>
          <a:effectLst/>
          <a:effectLst>
            <a:outerShdw blurRad="90000" dist="40000" dir="5400000" rotWithShape="0">
              <a:srgbClr val="28323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219456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Verdana"/>
              </a:rPr>
              <a:t>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4" y="324612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Verdana"/>
              </a:rPr>
              <a:t>Promover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3749039"/>
            <a:ext cx="2971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Verdana"/>
              </a:rPr>
              <a:t>Incentivar el desarrollo seguro y la transformación resiliente donde el riesgo es manejable.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7A828E"/>
                </a:solidFill>
                <a:latin typeface="Verdana"/>
              </a:rPr>
              <a:t>El marco Restringir–Condicionar–Promover (RCP) es la columna operativa del Handbook (Partes I y III): traduce la información de riesgo en decisiones de planificación.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28E"/>
                </a:solidFill>
                <a:latin typeface="Verdana"/>
              </a:rPr>
              <a:t>Handbook for Livable &amp; Resilient Cities  ·  </a:t>
            </a:r>
            <a:r>
              <a:rPr sz="900" b="1" i="0">
                <a:solidFill>
                  <a:srgbClr val="6F7D94"/>
                </a:solidFill>
                <a:latin typeface="Verdana"/>
              </a:rPr>
              <a:t>World Bank / GFDRR 2025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22920"/>
            <a:ext cx="50800" cy="25603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02920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8860B"/>
                </a:solidFill>
                <a:latin typeface="Verdana"/>
              </a:rPr>
              <a:t>SIN EXCUSAS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4E5869"/>
                </a:solidFill>
                <a:latin typeface="Verdana"/>
              </a:rPr>
              <a:t>Se empieza </a:t>
            </a:r>
            <a:r>
              <a:rPr sz="3400" b="1" i="0">
                <a:solidFill>
                  <a:srgbClr val="B8860B"/>
                </a:solidFill>
                <a:latin typeface="Verdana"/>
              </a:rPr>
              <a:t>con lo que hay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C636E"/>
                </a:solidFill>
                <a:latin typeface="Verdana"/>
              </a:rPr>
              <a:t>Aun con datos y capacidad institucional limitados, toda ciudad puede dar pasos fundacionales: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377440"/>
            <a:ext cx="457200" cy="457200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Verdan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77440"/>
            <a:ext cx="9966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B3038"/>
                </a:solidFill>
                <a:latin typeface="Verdana"/>
              </a:rPr>
              <a:t>Marcos regulatorios y normativas sencillas y claras.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090672"/>
            <a:ext cx="457200" cy="457200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09067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Verdan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090672"/>
            <a:ext cx="9966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B3038"/>
                </a:solidFill>
                <a:latin typeface="Verdana"/>
              </a:rPr>
              <a:t>Responsabilidades institucionales y mecanismos de coordinación definidos.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803904"/>
            <a:ext cx="457200" cy="457200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80390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Verdan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803904"/>
            <a:ext cx="9966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B3038"/>
                </a:solidFill>
                <a:latin typeface="Verdana"/>
              </a:rPr>
              <a:t>Usar los datos de riesgo disponibles —aun de baja resolución— con registros históricos, observación y conocimiento local.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517136"/>
            <a:ext cx="457200" cy="457200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51713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Verdan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517136"/>
            <a:ext cx="9966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B3038"/>
                </a:solidFill>
                <a:latin typeface="Verdana"/>
              </a:rPr>
              <a:t>Mecanismos prácticos: zonas de no construcción, retiros, control en áreas peligrosas.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5230368"/>
            <a:ext cx="457200" cy="457200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23036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Verdan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230368"/>
            <a:ext cx="9966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B3038"/>
                </a:solidFill>
                <a:latin typeface="Verdana"/>
              </a:rPr>
              <a:t>Capacitar a funcionarios en uso de datos, herramientas espaciales y monitoreo.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28E"/>
                </a:solidFill>
                <a:latin typeface="Verdana"/>
              </a:rPr>
              <a:t>Handbook for Livable &amp; Resilient Cities  ·  </a:t>
            </a:r>
            <a:r>
              <a:rPr sz="900" b="1" i="0">
                <a:solidFill>
                  <a:srgbClr val="6F7D94"/>
                </a:solidFill>
                <a:latin typeface="Verdana"/>
              </a:rPr>
              <a:t>World Bank / GFDRR 2025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22920"/>
            <a:ext cx="50800" cy="25603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02920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8860B"/>
                </a:solidFill>
                <a:latin typeface="Verdana"/>
              </a:rPr>
              <a:t>ESCALAR LA AMBICIÓN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4E5869"/>
                </a:solidFill>
                <a:latin typeface="Verdana"/>
              </a:rPr>
              <a:t>De herramientas </a:t>
            </a:r>
            <a:r>
              <a:rPr sz="3000" b="1" i="1">
                <a:solidFill>
                  <a:srgbClr val="4E5869"/>
                </a:solidFill>
                <a:latin typeface="Verdana"/>
              </a:rPr>
              <a:t>básicas</a:t>
            </a:r>
            <a:r>
              <a:rPr sz="3000" b="1" i="0">
                <a:solidFill>
                  <a:srgbClr val="4E5869"/>
                </a:solidFill>
                <a:latin typeface="Verdana"/>
              </a:rPr>
              <a:t> a instrumentos </a:t>
            </a:r>
            <a:r>
              <a:rPr sz="3000" b="1" i="1">
                <a:solidFill>
                  <a:srgbClr val="B8860B"/>
                </a:solidFill>
                <a:latin typeface="Verdana"/>
              </a:rPr>
              <a:t>avanzados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4663440" cy="1920240"/>
          </a:xfrm>
          <a:prstGeom prst="roundRect">
            <a:avLst>
              <a:gd name="adj" fmla="val 5000"/>
            </a:avLst>
          </a:prstGeom>
          <a:solidFill>
            <a:srgbClr val="EEF1F4"/>
          </a:solidFill>
          <a:ln w="1270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4E5869"/>
                </a:solidFill>
                <a:latin typeface="Verdana"/>
              </a:rPr>
              <a:t>Capacidad inicial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88920"/>
            <a:ext cx="4206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B3038"/>
                </a:solidFill>
                <a:latin typeface="Verdana"/>
              </a:rPr>
              <a:t>Zonificación básica · planificación del uso del suelo · códigos de edificación · campañas de concientización · incentivos focalizados.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440680" y="2834640"/>
            <a:ext cx="914400" cy="594360"/>
          </a:xfrm>
          <a:prstGeom prst="rightArrow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92240" y="2103120"/>
            <a:ext cx="4663440" cy="1920240"/>
          </a:xfrm>
          <a:prstGeom prst="roundRect">
            <a:avLst>
              <a:gd name="adj" fmla="val 5000"/>
            </a:avLst>
          </a:prstGeom>
          <a:solidFill>
            <a:srgbClr val="EFE7D6"/>
          </a:solidFill>
          <a:ln w="12700">
            <a:solidFill>
              <a:srgbClr val="E0D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228600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B8860B"/>
                </a:solidFill>
                <a:latin typeface="Verdana"/>
              </a:rPr>
              <a:t>Capacidad avanzada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788920"/>
            <a:ext cx="4206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A4250"/>
                </a:solidFill>
                <a:latin typeface="Verdana"/>
              </a:rPr>
              <a:t>Captura de plusvalías (land value capture)</a:t>
            </a:r>
            <a:r>
              <a:rPr sz="1400" b="0" i="0">
                <a:solidFill>
                  <a:srgbClr val="2B3038"/>
                </a:solidFill>
                <a:latin typeface="Verdana"/>
              </a:rPr>
              <a:t> · finanzas verdes · esquemas de seguros para financiar el desarrollo urbano resiliente.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7A828E"/>
                </a:solidFill>
                <a:latin typeface="Verdana"/>
              </a:rPr>
              <a:t>Un proceso multiescala e iterativo: el instrumento se ajusta a la capacidad y al contexto de cada ciudad.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28E"/>
                </a:solidFill>
                <a:latin typeface="Verdana"/>
              </a:rPr>
              <a:t>Handbook for Livable &amp; Resilient Cities  ·  </a:t>
            </a:r>
            <a:r>
              <a:rPr sz="900" b="1" i="0">
                <a:solidFill>
                  <a:srgbClr val="6F7D94"/>
                </a:solidFill>
                <a:latin typeface="Verdana"/>
              </a:rPr>
              <a:t>World Bank / GFDRR 2025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22920"/>
            <a:ext cx="50800" cy="25603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02920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8860B"/>
                </a:solidFill>
                <a:latin typeface="Verdana"/>
              </a:rPr>
              <a:t>CÓMO ESTÁ ORGANIZADO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4E5869"/>
                </a:solidFill>
                <a:latin typeface="Verdana"/>
              </a:rPr>
              <a:t>El Handbook, en tres partes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3520440" cy="2834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2011680"/>
            <a:ext cx="3520440" cy="548640"/>
          </a:xfrm>
          <a:prstGeom prst="round2SameRect">
            <a:avLst/>
          </a:prstGeom>
          <a:solidFill>
            <a:srgbClr val="2F6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3154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Verdana"/>
              </a:rPr>
              <a:t>PARTE I · Marco conceptual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825496"/>
            <a:ext cx="91440" cy="91440"/>
          </a:xfrm>
          <a:prstGeom prst="ellipse">
            <a:avLst/>
          </a:prstGeom>
          <a:solidFill>
            <a:srgbClr val="2F6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74320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3038"/>
                </a:solidFill>
                <a:latin typeface="Verdana"/>
              </a:rPr>
              <a:t>Conceptos, principios, metas y gobernanza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483864"/>
            <a:ext cx="91440" cy="91440"/>
          </a:xfrm>
          <a:prstGeom prst="ellipse">
            <a:avLst/>
          </a:prstGeom>
          <a:solidFill>
            <a:srgbClr val="2F6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401568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3038"/>
                </a:solidFill>
                <a:latin typeface="Verdana"/>
              </a:rPr>
              <a:t>Presenta el marco RCP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4142232"/>
            <a:ext cx="91440" cy="91440"/>
          </a:xfrm>
          <a:prstGeom prst="ellipse">
            <a:avLst/>
          </a:prstGeom>
          <a:solidFill>
            <a:srgbClr val="2F6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059936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3038"/>
                </a:solidFill>
                <a:latin typeface="Verdana"/>
              </a:rPr>
              <a:t>La relación entre urbanización y riesgo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5112" y="2011680"/>
            <a:ext cx="3520440" cy="2834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>
            <a:off x="4325112" y="2011680"/>
            <a:ext cx="3520440" cy="548640"/>
          </a:xfrm>
          <a:prstGeom prst="round2SameRect">
            <a:avLst/>
          </a:prstGeom>
          <a:solidFill>
            <a:srgbClr val="B14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7992" y="2011680"/>
            <a:ext cx="3154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Verdana"/>
              </a:rPr>
              <a:t>PARTE II · Proceso e instrumentos</a:t>
            </a:r>
          </a:p>
        </p:txBody>
      </p:sp>
      <p:sp>
        <p:nvSpPr>
          <p:cNvPr id="18" name="Oval 17"/>
          <p:cNvSpPr/>
          <p:nvPr/>
        </p:nvSpPr>
        <p:spPr>
          <a:xfrm>
            <a:off x="4553712" y="2825496"/>
            <a:ext cx="91440" cy="91440"/>
          </a:xfrm>
          <a:prstGeom prst="ellipse">
            <a:avLst/>
          </a:prstGeom>
          <a:solidFill>
            <a:srgbClr val="B14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82312" y="274320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3038"/>
                </a:solidFill>
                <a:latin typeface="Verdana"/>
              </a:rPr>
              <a:t>Cómo incorporar el riesgo al plan</a:t>
            </a:r>
          </a:p>
        </p:txBody>
      </p:sp>
      <p:sp>
        <p:nvSpPr>
          <p:cNvPr id="20" name="Oval 19"/>
          <p:cNvSpPr/>
          <p:nvPr/>
        </p:nvSpPr>
        <p:spPr>
          <a:xfrm>
            <a:off x="4553712" y="3483864"/>
            <a:ext cx="91440" cy="91440"/>
          </a:xfrm>
          <a:prstGeom prst="ellipse">
            <a:avLst/>
          </a:prstGeom>
          <a:solidFill>
            <a:srgbClr val="B14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82312" y="3401568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3038"/>
                </a:solidFill>
                <a:latin typeface="Verdana"/>
              </a:rPr>
              <a:t>Instrumentos regulatorios y financieros</a:t>
            </a:r>
          </a:p>
        </p:txBody>
      </p:sp>
      <p:sp>
        <p:nvSpPr>
          <p:cNvPr id="22" name="Oval 21"/>
          <p:cNvSpPr/>
          <p:nvPr/>
        </p:nvSpPr>
        <p:spPr>
          <a:xfrm>
            <a:off x="4553712" y="4142232"/>
            <a:ext cx="91440" cy="91440"/>
          </a:xfrm>
          <a:prstGeom prst="ellipse">
            <a:avLst/>
          </a:prstGeom>
          <a:solidFill>
            <a:srgbClr val="B14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82312" y="4059936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3038"/>
                </a:solidFill>
                <a:latin typeface="Verdana"/>
              </a:rPr>
              <a:t>Monitoreo y evaluación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2011680"/>
            <a:ext cx="3520440" cy="2834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>
            <a:off x="8010144" y="2011680"/>
            <a:ext cx="3520440" cy="548640"/>
          </a:xfrm>
          <a:prstGeom prst="round2SameRect">
            <a:avLst/>
          </a:prstGeom>
          <a:solidFill>
            <a:srgbClr val="5A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93024" y="2011680"/>
            <a:ext cx="3154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Verdana"/>
              </a:rPr>
              <a:t>PARTE III · Medidas RCP por amenaza</a:t>
            </a:r>
          </a:p>
        </p:txBody>
      </p:sp>
      <p:sp>
        <p:nvSpPr>
          <p:cNvPr id="27" name="Oval 26"/>
          <p:cNvSpPr/>
          <p:nvPr/>
        </p:nvSpPr>
        <p:spPr>
          <a:xfrm>
            <a:off x="8238744" y="2825496"/>
            <a:ext cx="91440" cy="91440"/>
          </a:xfrm>
          <a:prstGeom prst="ellipse">
            <a:avLst/>
          </a:prstGeom>
          <a:solidFill>
            <a:srgbClr val="5A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67344" y="274320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3038"/>
                </a:solidFill>
                <a:latin typeface="Verdana"/>
              </a:rPr>
              <a:t>Amenazas hidrometeorológicas, geológicas y climáticas</a:t>
            </a:r>
          </a:p>
        </p:txBody>
      </p:sp>
      <p:sp>
        <p:nvSpPr>
          <p:cNvPr id="29" name="Oval 28"/>
          <p:cNvSpPr/>
          <p:nvPr/>
        </p:nvSpPr>
        <p:spPr>
          <a:xfrm>
            <a:off x="8238744" y="3483864"/>
            <a:ext cx="91440" cy="91440"/>
          </a:xfrm>
          <a:prstGeom prst="ellipse">
            <a:avLst/>
          </a:prstGeom>
          <a:solidFill>
            <a:srgbClr val="5A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67344" y="3401568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3038"/>
                </a:solidFill>
                <a:latin typeface="Verdana"/>
              </a:rPr>
              <a:t>Catálogo de ejemplos RCP</a:t>
            </a:r>
          </a:p>
        </p:txBody>
      </p:sp>
      <p:sp>
        <p:nvSpPr>
          <p:cNvPr id="31" name="Oval 30"/>
          <p:cNvSpPr/>
          <p:nvPr/>
        </p:nvSpPr>
        <p:spPr>
          <a:xfrm>
            <a:off x="8238744" y="4142232"/>
            <a:ext cx="91440" cy="91440"/>
          </a:xfrm>
          <a:prstGeom prst="ellipse">
            <a:avLst/>
          </a:prstGeom>
          <a:solidFill>
            <a:srgbClr val="5A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67344" y="4059936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3038"/>
                </a:solidFill>
                <a:latin typeface="Verdana"/>
              </a:rPr>
              <a:t>Conclusiones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7A828E"/>
                </a:solidFill>
                <a:latin typeface="Verdana"/>
              </a:rPr>
              <a:t>Un marco integral para transformar la urbanización de motor de riesgo en catalizador de resiliencia y capacidad.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28E"/>
                </a:solidFill>
                <a:latin typeface="Verdana"/>
              </a:rPr>
              <a:t>Handbook for Livable &amp; Resilient Cities  ·  </a:t>
            </a:r>
            <a:r>
              <a:rPr sz="900" b="1" i="0">
                <a:solidFill>
                  <a:srgbClr val="6F7D94"/>
                </a:solidFill>
                <a:latin typeface="Verdana"/>
              </a:rPr>
              <a:t>World Bank / GFDRR 2025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22920"/>
            <a:ext cx="50800" cy="25603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02920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8860B"/>
                </a:solidFill>
                <a:latin typeface="Verdana"/>
              </a:rPr>
              <a:t>¿A QUIÉN INTERPELA?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4E5869"/>
                </a:solidFill>
                <a:latin typeface="Verdana"/>
              </a:rPr>
              <a:t>Una herramienta para quienes </a:t>
            </a:r>
            <a:r>
              <a:rPr sz="3000" b="1" i="0">
                <a:solidFill>
                  <a:srgbClr val="B8860B"/>
                </a:solidFill>
                <a:latin typeface="Verdana"/>
              </a:rPr>
              <a:t>deciden y construyen</a:t>
            </a:r>
            <a:r>
              <a:rPr sz="3000" b="1" i="0">
                <a:solidFill>
                  <a:srgbClr val="4E5869"/>
                </a:solidFill>
                <a:latin typeface="Verdana"/>
              </a:rPr>
              <a:t> ciudad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352044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  <a:effectLst>
            <a:outerShdw blurRad="90000" dist="40000" dir="5400000" rotWithShape="0">
              <a:srgbClr val="28323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3520440" cy="381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12848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A4250"/>
                </a:solidFill>
                <a:latin typeface="Verdana"/>
              </a:rPr>
              <a:t>Gobiernos y tomadores de decisión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3464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828E"/>
                </a:solidFill>
                <a:latin typeface="Verdana"/>
              </a:rPr>
              <a:t>Nacionales y locales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2011680"/>
            <a:ext cx="352044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  <a:effectLst>
            <a:outerShdw blurRad="90000" dist="40000" dir="5400000" rotWithShape="0">
              <a:srgbClr val="28323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5112" y="2011680"/>
            <a:ext cx="3520440" cy="381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2212848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A4250"/>
                </a:solidFill>
                <a:latin typeface="Verdana"/>
              </a:rPr>
              <a:t>Planificadores y técnicos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83464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828E"/>
                </a:solidFill>
                <a:latin typeface="Verdana"/>
              </a:rPr>
              <a:t>Urbanismo, DRR y resiliencia climática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2011680"/>
            <a:ext cx="352044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  <a:effectLst>
            <a:outerShdw blurRad="90000" dist="40000" dir="5400000" rotWithShape="0">
              <a:srgbClr val="28323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10144" y="2011680"/>
            <a:ext cx="3520440" cy="381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8744" y="2212848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A4250"/>
                </a:solidFill>
                <a:latin typeface="Verdana"/>
              </a:rPr>
              <a:t>Investigadores y academia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8744" y="283464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828E"/>
                </a:solidFill>
                <a:latin typeface="Verdana"/>
              </a:rPr>
              <a:t>Evidencia para la política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474720"/>
            <a:ext cx="352044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  <a:effectLst>
            <a:outerShdw blurRad="90000" dist="40000" dir="5400000" rotWithShape="0">
              <a:srgbClr val="28323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474720"/>
            <a:ext cx="3520440" cy="381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675888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A4250"/>
                </a:solidFill>
                <a:latin typeface="Verdana"/>
              </a:rPr>
              <a:t>ONG y organizaciones de 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29768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828E"/>
                </a:solidFill>
                <a:latin typeface="Verdana"/>
              </a:rPr>
              <a:t>Adaptación basada en ecosistemas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25112" y="3474720"/>
            <a:ext cx="352044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  <a:effectLst>
            <a:outerShdw blurRad="90000" dist="40000" dir="5400000" rotWithShape="0">
              <a:srgbClr val="28323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25112" y="3474720"/>
            <a:ext cx="3520440" cy="381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53712" y="3675888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A4250"/>
                </a:solidFill>
                <a:latin typeface="Verdana"/>
              </a:rPr>
              <a:t>Sector privado y financiero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429768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828E"/>
                </a:solidFill>
                <a:latin typeface="Verdana"/>
              </a:rPr>
              <a:t>Inversión resiliente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10144" y="3474720"/>
            <a:ext cx="352044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  <a:effectLst>
            <a:outerShdw blurRad="90000" dist="40000" dir="5400000" rotWithShape="0">
              <a:srgbClr val="28323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10144" y="3474720"/>
            <a:ext cx="3520440" cy="381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38744" y="3675888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A4250"/>
                </a:solidFill>
                <a:latin typeface="Verdana"/>
              </a:rPr>
              <a:t>Comunidades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38744" y="429768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828E"/>
                </a:solidFill>
                <a:latin typeface="Verdana"/>
              </a:rPr>
              <a:t>Justicia climática e inclusión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28E"/>
                </a:solidFill>
                <a:latin typeface="Verdana"/>
              </a:rPr>
              <a:t>Handbook for Livable &amp; Resilient Cities  ·  </a:t>
            </a:r>
            <a:r>
              <a:rPr sz="900" b="1" i="0">
                <a:solidFill>
                  <a:srgbClr val="6F7D94"/>
                </a:solidFill>
                <a:latin typeface="Verdana"/>
              </a:rPr>
              <a:t>World Bank / GFDRR 2025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42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22920"/>
            <a:ext cx="50800" cy="256032"/>
          </a:xfrm>
          <a:prstGeom prst="rect">
            <a:avLst/>
          </a:prstGeom>
          <a:solidFill>
            <a:srgbClr val="D4C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02920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D4C088"/>
                </a:solidFill>
                <a:latin typeface="Verdana"/>
              </a:rPr>
              <a:t>EL LLAMADO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63500" cy="201168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96012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Verdana"/>
              </a:rPr>
              <a:t>La urbanización puede pasar de ser un </a:t>
            </a:r>
            <a:r>
              <a:rPr sz="3000" b="1" i="0">
                <a:solidFill>
                  <a:srgbClr val="E7B8B8"/>
                </a:solidFill>
                <a:latin typeface="Verdana"/>
              </a:rPr>
              <a:t>motor de riesgo</a:t>
            </a:r>
            <a:r>
              <a:rPr sz="3000" b="1" i="0">
                <a:solidFill>
                  <a:srgbClr val="FFFFFF"/>
                </a:solidFill>
                <a:latin typeface="Verdana"/>
              </a:rPr>
              <a:t> a un </a:t>
            </a:r>
            <a:r>
              <a:rPr sz="3000" b="1" i="0">
                <a:solidFill>
                  <a:srgbClr val="D4C088"/>
                </a:solidFill>
                <a:latin typeface="Verdana"/>
              </a:rPr>
              <a:t>catalizador de resiliencia</a:t>
            </a:r>
            <a:r>
              <a:rPr sz="3000" b="1" i="0">
                <a:solidFill>
                  <a:srgbClr val="FFFFFF"/>
                </a:solidFill>
                <a:latin typeface="Verdana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CFD5DD"/>
                </a:solidFill>
                <a:latin typeface="Verdana"/>
              </a:rPr>
              <a:t>No es un problema de destino, sino de </a:t>
            </a:r>
            <a:r>
              <a:rPr sz="1800" b="1" i="0">
                <a:solidFill>
                  <a:srgbClr val="FFFFFF"/>
                </a:solidFill>
                <a:latin typeface="Verdana"/>
              </a:rPr>
              <a:t>decisiones de planificación</a:t>
            </a:r>
            <a:r>
              <a:rPr sz="1800" b="0" i="0">
                <a:solidFill>
                  <a:srgbClr val="CFD5DD"/>
                </a:solidFill>
                <a:latin typeface="Verdana"/>
              </a:rPr>
              <a:t>. Y esas decisiones se toman </a:t>
            </a:r>
            <a:r>
              <a:rPr sz="1800" b="1" i="0">
                <a:solidFill>
                  <a:srgbClr val="D4C088"/>
                </a:solidFill>
                <a:latin typeface="Verdana"/>
              </a:rPr>
              <a:t>hoy</a:t>
            </a:r>
            <a:r>
              <a:rPr sz="1800" b="0" i="0">
                <a:solidFill>
                  <a:srgbClr val="CFD5DD"/>
                </a:solidFill>
                <a:latin typeface="Verdana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1208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Verdana"/>
              </a:rPr>
              <a:t>Planifiquemos ciudades que protejan a su gente.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22920"/>
            <a:ext cx="50800" cy="25603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02920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8860B"/>
                </a:solidFill>
                <a:latin typeface="Verdana"/>
              </a:rPr>
              <a:t>GRACIAS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4E5869"/>
                </a:solidFill>
                <a:latin typeface="Verdana"/>
              </a:rPr>
              <a:t>Conversemos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3A4250"/>
                </a:solidFill>
                <a:latin typeface="Verdana"/>
              </a:rPr>
              <a:t>Prof. Cynthia Goytia (PhD)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7A828E"/>
                </a:solidFill>
                <a:latin typeface="Verdana"/>
              </a:rPr>
              <a:t>Economía Urbana · Universidad Torcuato Di Tella · CIPUV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E5869"/>
                </a:solidFill>
                <a:latin typeface="Verdana"/>
              </a:rPr>
              <a:t>✉  cgoytia@utdt.edu      🌐  cgoytia-droid.github.io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937760"/>
            <a:ext cx="10972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7A828E"/>
                </a:solidFill>
                <a:latin typeface="Verdana"/>
              </a:rPr>
              <a:t>Basado en: World Bank &amp; GFDRR (2025). Handbook for Livable and Resilient Cities: Integrating Hazard and Risk Information into Urban Planning. Washington, DC: World Bank.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7A828E"/>
                </a:solidFill>
                <a:latin typeface="Verdana"/>
              </a:rPr>
              <a:t>Datos: World Bank 2022a; United Nations 2018; CRED &amp; UNDRR 2019; Winsemius et al. 2016; Our World in Data 2025.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28E"/>
                </a:solidFill>
                <a:latin typeface="Verdana"/>
              </a:rPr>
              <a:t>Handbook for Livable &amp; Resilient Cities  ·  </a:t>
            </a:r>
            <a:r>
              <a:rPr sz="900" b="1" i="0">
                <a:solidFill>
                  <a:srgbClr val="6F7D94"/>
                </a:solidFill>
                <a:latin typeface="Verdana"/>
              </a:rPr>
              <a:t>World Bank / GFDRR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