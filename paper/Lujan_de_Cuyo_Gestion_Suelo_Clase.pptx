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min. Una ciudad intermedia semiárida está construyendo, en la práctica, un sistema para financiar su adaptación con recursos propios del suelo. Dos instrumentos ya recaudan.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s. Mapa de la clase.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min. Las 4 piezas y su orden: capturar → blindar → apalancar → redistribuir.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min. La tensión: crecimiento acelerado sobre un recurso hídrico que se contrae. El periurbano que se lotea era zona de recarga.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min. Clave conceptual. La plusvalía depende de seguir teniendo agua; el desarrollo erosiona el agua. Capturar parte del incremento cierra el círculo.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min. Fundamento económico. La novedad: acoplar LVC a la adaptación y hacerlo en una ciudad intermedia.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min. La geografía del financiamiento es regresiva. Construir capacidad propia cambia el juego.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1.5 min. Diapositiva-espina: es un flujo, no una lista. Todo lo que sigue cuelga de aquí.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Transición. Uno por uno. Marcar los 2 OPERATIVOS.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Base = plan de obras 2026 real (~ARS 6.850 M); 69% con impacto ambiental alto/medio.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instrumento que mejor encarna la paradoja: grava exactamente la transacción que produce la externalidad.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OPERATIVO — dato real. Doble función: recurso + señal anti-sprawl.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COS 2026 fija la base imponible; la recaudación depende del take-up del mercado.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incentivos internalizan la externalidad; los TDR resuelven la política sin gasto público.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dato estrella. ~11× real (CAGR 83,7%) en plena turbulencia macro. Es cantidad (más conexiones) además de precio.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min. 2 ya operativos (baldíos y agua/cloaca); los 4 de captura de valor, diseñados.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min. La separación legal vuelve bancable el recurso y lo protege de gastarse en otra cosa. Las 3 subcuentas.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min. El recurso propio no es el destino; es el boleto de entrada. Resuelve contrapartida y repago.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1.5 min. Un sistema de recaudación es tan bueno como su regla de gasto. El agua entra 3 veces.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min. Desalineación parcial: hoy la inversión va donde el suelo vale más, no donde más falta. El ICD + fideicomiso lo corrigen.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1.5 min. ~USD 1M ya se recauda; el paquete ~USD 3M base, antes de apalancar.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1.5 min. Central para el mandato de C40/JCCPE: que el financiamiento no refuerce inequidades. La incidencia es variable de diseño.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min. Cierra la pata low-carbon del mandato.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5–8 min de discusión. Usar la diapositiva 20 (alineación) como disparador de la pregunta de equidad.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min de cierre. La frase resume el caso.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8.png"/><Relationship Id="rId8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image" Target="../media/image9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9.png"/><Relationship Id="rId7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9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4.png"/><Relationship Id="rId5" Type="http://schemas.openxmlformats.org/officeDocument/2006/relationships/image" Target="../media/image6.png"/><Relationship Id="rId6" Type="http://schemas.openxmlformats.org/officeDocument/2006/relationships/image" Target="../media/image8.png"/><Relationship Id="rId7" Type="http://schemas.openxmlformats.org/officeDocument/2006/relationships/image" Target="../media/image2.png"/><Relationship Id="rId8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58000"/>
            <a:ext cx="12191695" cy="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8808415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 i="0">
                <a:solidFill>
                  <a:srgbClr val="1A1A1A"/>
                </a:solidFill>
                <a:latin typeface="Calibri"/>
              </a:rPr>
              <a:t>Luján de Cuyo</a:t>
            </a:r>
          </a:p>
          <a:p>
            <a:pPr algn="l">
              <a:spcAft>
                <a:spcPts val="800"/>
              </a:spcAft>
            </a:pPr>
            <a:r>
              <a:rPr sz="2400" b="1" i="0">
                <a:solidFill>
                  <a:srgbClr val="4F7A12"/>
                </a:solidFill>
                <a:latin typeface="Calibri"/>
              </a:rPr>
              <a:t>Innovación en gestión del suelo para financiar la adaptación climática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86200"/>
            <a:ext cx="88084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595959"/>
                </a:solidFill>
                <a:latin typeface="Calibri"/>
              </a:rPr>
              <a:t>Seis instrumentos de captura de valor · un Fideicomiso · el Índice de Ciudad Deseada</a:t>
            </a:r>
          </a:p>
        </p:txBody>
      </p:sp>
      <p:pic>
        <p:nvPicPr>
          <p:cNvPr id="6" name="Picture 5" descr="ic_p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892040"/>
            <a:ext cx="868680" cy="868680"/>
          </a:xfrm>
          <a:prstGeom prst="rect">
            <a:avLst/>
          </a:prstGeom>
        </p:spPr>
      </p:pic>
      <p:pic>
        <p:nvPicPr>
          <p:cNvPr id="7" name="Picture 6" descr="ic_wa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4520" y="4892040"/>
            <a:ext cx="868680" cy="868680"/>
          </a:xfrm>
          <a:prstGeom prst="rect">
            <a:avLst/>
          </a:prstGeom>
        </p:spPr>
      </p:pic>
      <p:pic>
        <p:nvPicPr>
          <p:cNvPr id="8" name="Picture 7" descr="ic_coi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4892040"/>
            <a:ext cx="868680" cy="868680"/>
          </a:xfrm>
          <a:prstGeom prst="rect">
            <a:avLst/>
          </a:prstGeom>
        </p:spPr>
      </p:pic>
      <p:pic>
        <p:nvPicPr>
          <p:cNvPr id="9" name="Picture 8" descr="ic_build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3400" y="4892040"/>
            <a:ext cx="868680" cy="868680"/>
          </a:xfrm>
          <a:prstGeom prst="rect">
            <a:avLst/>
          </a:prstGeom>
        </p:spPr>
      </p:pic>
      <p:pic>
        <p:nvPicPr>
          <p:cNvPr id="10" name="Picture 9" descr="ic_shie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7840" y="4892040"/>
            <a:ext cx="868680" cy="868680"/>
          </a:xfrm>
          <a:prstGeom prst="rect">
            <a:avLst/>
          </a:prstGeom>
        </p:spPr>
      </p:pic>
      <p:pic>
        <p:nvPicPr>
          <p:cNvPr id="11" name="Picture 10" descr="ic_targe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12280" y="4892040"/>
            <a:ext cx="868680" cy="868680"/>
          </a:xfrm>
          <a:prstGeom prst="rect">
            <a:avLst/>
          </a:prstGeom>
        </p:spPr>
      </p:pic>
      <p:pic>
        <p:nvPicPr>
          <p:cNvPr id="12" name="Picture 11" descr="ic_co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46720" y="4892040"/>
            <a:ext cx="868680" cy="8686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" y="61722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Calibri"/>
              </a:rPr>
              <a:t>Clase — 30 minutos  ·  Caso Mendoza, Argentina  ·  CIPUV–UTDT / Lincoln Institute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814255" y="0"/>
            <a:ext cx="2377440" cy="6858000"/>
          </a:xfrm>
          <a:prstGeom prst="rect">
            <a:avLst/>
          </a:prstGeom>
          <a:solidFill>
            <a:srgbClr val="EAF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c_wa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17176" y="2468880"/>
            <a:ext cx="1920240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50292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572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4F7A12"/>
                </a:solidFill>
                <a:latin typeface="Calibri"/>
              </a:rPr>
              <a:t>HOJA DE RUTA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49808"/>
            <a:ext cx="106372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Lo que veremos en 30 minutos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911535" cy="2794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382512"/>
            <a:ext cx="10911535" cy="12700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Luján de Cuyo · Innovación en gestión del suelo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920240"/>
            <a:ext cx="539496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9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04672" y="2121408"/>
            <a:ext cx="914400" cy="914400"/>
          </a:xfrm>
          <a:prstGeom prst="roundRect">
            <a:avLst/>
          </a:prstGeom>
          <a:solidFill>
            <a:srgbClr val="EAF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c_p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2267712"/>
            <a:ext cx="621792" cy="62179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20" y="2103120"/>
            <a:ext cx="402336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7CB518"/>
                </a:solidFill>
                <a:latin typeface="Calibri"/>
              </a:rPr>
              <a:t>01  </a:t>
            </a:r>
            <a:r>
              <a:rPr sz="1700" b="1" i="0">
                <a:solidFill>
                  <a:srgbClr val="1A1A1A"/>
                </a:solidFill>
                <a:latin typeface="Calibri"/>
              </a:rPr>
              <a:t>El contexto y la paradoja agua–suelo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920240"/>
            <a:ext cx="539496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9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73952" y="2121408"/>
            <a:ext cx="914400" cy="914400"/>
          </a:xfrm>
          <a:prstGeom prst="roundRect">
            <a:avLst/>
          </a:prstGeom>
          <a:solidFill>
            <a:srgbClr val="EAF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c_coi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0256" y="2267712"/>
            <a:ext cx="621792" cy="62179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543800" y="2103120"/>
            <a:ext cx="402336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7CB518"/>
                </a:solidFill>
                <a:latin typeface="Calibri"/>
              </a:rPr>
              <a:t>02  </a:t>
            </a:r>
            <a:r>
              <a:rPr sz="1700" b="1" i="0">
                <a:solidFill>
                  <a:srgbClr val="1A1A1A"/>
                </a:solidFill>
                <a:latin typeface="Calibri"/>
              </a:rPr>
              <a:t>La idea: captura de valor del suelo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383280"/>
            <a:ext cx="539496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9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4672" y="3584448"/>
            <a:ext cx="914400" cy="914400"/>
          </a:xfrm>
          <a:prstGeom prst="roundRect">
            <a:avLst/>
          </a:prstGeom>
          <a:solidFill>
            <a:srgbClr val="EAF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_build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976" y="3730752"/>
            <a:ext cx="621792" cy="62179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874520" y="3566160"/>
            <a:ext cx="402336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7CB518"/>
                </a:solidFill>
                <a:latin typeface="Calibri"/>
              </a:rPr>
              <a:t>03  </a:t>
            </a:r>
            <a:r>
              <a:rPr sz="1700" b="1" i="0">
                <a:solidFill>
                  <a:srgbClr val="1A1A1A"/>
                </a:solidFill>
                <a:latin typeface="Calibri"/>
              </a:rPr>
              <a:t>Los seis instrumentos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3383280"/>
            <a:ext cx="539496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9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73952" y="3584448"/>
            <a:ext cx="914400" cy="914400"/>
          </a:xfrm>
          <a:prstGeom prst="roundRect">
            <a:avLst/>
          </a:prstGeom>
          <a:solidFill>
            <a:srgbClr val="EAF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c_shie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0256" y="3730752"/>
            <a:ext cx="621792" cy="62179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543800" y="3566160"/>
            <a:ext cx="402336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7CB518"/>
                </a:solidFill>
                <a:latin typeface="Calibri"/>
              </a:rPr>
              <a:t>04  </a:t>
            </a:r>
            <a:r>
              <a:rPr sz="1700" b="1" i="0">
                <a:solidFill>
                  <a:srgbClr val="1A1A1A"/>
                </a:solidFill>
                <a:latin typeface="Calibri"/>
              </a:rPr>
              <a:t>La arquitectura: Banco + Fondo + Fideicomiso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846320"/>
            <a:ext cx="539496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9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04672" y="5047488"/>
            <a:ext cx="914400" cy="914400"/>
          </a:xfrm>
          <a:prstGeom prst="roundRect">
            <a:avLst/>
          </a:prstGeom>
          <a:solidFill>
            <a:srgbClr val="EAF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ic_targe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0976" y="5193792"/>
            <a:ext cx="621792" cy="621792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874520" y="5029200"/>
            <a:ext cx="402336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7CB518"/>
                </a:solidFill>
                <a:latin typeface="Calibri"/>
              </a:rPr>
              <a:t>05  </a:t>
            </a:r>
            <a:r>
              <a:rPr sz="1700" b="1" i="0">
                <a:solidFill>
                  <a:srgbClr val="1A1A1A"/>
                </a:solidFill>
                <a:latin typeface="Calibri"/>
              </a:rPr>
              <a:t>La regla de gasto: Índice de Ciudad Deseada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4846320"/>
            <a:ext cx="539496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9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473952" y="5047488"/>
            <a:ext cx="914400" cy="914400"/>
          </a:xfrm>
          <a:prstGeom prst="roundRect">
            <a:avLst/>
          </a:prstGeom>
          <a:solidFill>
            <a:srgbClr val="EAF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ic_scal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0256" y="5193792"/>
            <a:ext cx="621792" cy="62179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543800" y="5029200"/>
            <a:ext cx="402336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7CB518"/>
                </a:solidFill>
                <a:latin typeface="Calibri"/>
              </a:rPr>
              <a:t>06  </a:t>
            </a:r>
            <a:r>
              <a:rPr sz="1700" b="1" i="0">
                <a:solidFill>
                  <a:srgbClr val="1A1A1A"/>
                </a:solidFill>
                <a:latin typeface="Calibri"/>
              </a:rPr>
              <a:t>Números, equidad y co-beneficios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1153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4F7A12"/>
                </a:solidFill>
                <a:latin typeface="Calibri"/>
              </a:rPr>
              <a:t>LA IDEA EN UNA FRASE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960120" cy="960120"/>
          </a:xfrm>
          <a:prstGeom prst="roundRect">
            <a:avLst/>
          </a:prstGeom>
          <a:solidFill>
            <a:srgbClr val="EAF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c_coi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699" y="1708099"/>
            <a:ext cx="652882" cy="6528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74520" y="1600200"/>
            <a:ext cx="9539935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4F7A12"/>
                </a:solidFill>
                <a:latin typeface="Calibri"/>
              </a:rPr>
              <a:t>Capturar.  </a:t>
            </a:r>
            <a:r>
              <a:rPr sz="2200" b="0" i="0">
                <a:solidFill>
                  <a:srgbClr val="1A1A1A"/>
                </a:solidFill>
                <a:latin typeface="Calibri"/>
              </a:rPr>
              <a:t>la plusvalía que genera el propio desarrollo urbano</a:t>
            </a:r>
          </a:p>
        </p:txBody>
      </p:sp>
      <p:sp>
        <p:nvSpPr>
          <p:cNvPr id="8" name="Down Arrow 7"/>
          <p:cNvSpPr/>
          <p:nvPr/>
        </p:nvSpPr>
        <p:spPr>
          <a:xfrm>
            <a:off x="1024128" y="2487168"/>
            <a:ext cx="182880" cy="256032"/>
          </a:xfrm>
          <a:prstGeom prst="downArrow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724912"/>
            <a:ext cx="960120" cy="960120"/>
          </a:xfrm>
          <a:prstGeom prst="roundRect">
            <a:avLst/>
          </a:prstGeom>
          <a:solidFill>
            <a:srgbClr val="EAF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c_sh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699" y="2878531"/>
            <a:ext cx="652882" cy="65288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20" y="2770632"/>
            <a:ext cx="9539935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4F7A12"/>
                </a:solidFill>
                <a:latin typeface="Calibri"/>
              </a:rPr>
              <a:t>Blindar.  </a:t>
            </a:r>
            <a:r>
              <a:rPr sz="2200" b="0" i="0">
                <a:solidFill>
                  <a:srgbClr val="1A1A1A"/>
                </a:solidFill>
                <a:latin typeface="Calibri"/>
              </a:rPr>
              <a:t>los recursos en un fideicomiso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1024128" y="3657600"/>
            <a:ext cx="182880" cy="256032"/>
          </a:xfrm>
          <a:prstGeom prst="downArrow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3895344"/>
            <a:ext cx="960120" cy="960120"/>
          </a:xfrm>
          <a:prstGeom prst="roundRect">
            <a:avLst/>
          </a:prstGeom>
          <a:solidFill>
            <a:srgbClr val="EAF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_step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699" y="4048963"/>
            <a:ext cx="652882" cy="65288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20" y="3941064"/>
            <a:ext cx="9539935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4F7A12"/>
                </a:solidFill>
                <a:latin typeface="Calibri"/>
              </a:rPr>
              <a:t>Apalancar.  </a:t>
            </a:r>
            <a:r>
              <a:rPr sz="2200" b="0" i="0">
                <a:solidFill>
                  <a:srgbClr val="1A1A1A"/>
                </a:solidFill>
                <a:latin typeface="Calibri"/>
              </a:rPr>
              <a:t>financiamiento climático internacional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1024128" y="4828032"/>
            <a:ext cx="182880" cy="256032"/>
          </a:xfrm>
          <a:prstGeom prst="downArrow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" y="5065776"/>
            <a:ext cx="960120" cy="960120"/>
          </a:xfrm>
          <a:prstGeom prst="roundRect">
            <a:avLst/>
          </a:prstGeom>
          <a:solidFill>
            <a:srgbClr val="EAF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c_targ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699" y="5219395"/>
            <a:ext cx="652882" cy="65288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874520" y="5111496"/>
            <a:ext cx="9539935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4F7A12"/>
                </a:solidFill>
                <a:latin typeface="Calibri"/>
              </a:rPr>
              <a:t>Redistribuir.  </a:t>
            </a:r>
            <a:r>
              <a:rPr sz="2200" b="0" i="0">
                <a:solidFill>
                  <a:srgbClr val="1A1A1A"/>
                </a:solidFill>
                <a:latin typeface="Calibri"/>
              </a:rPr>
              <a:t>con equidad, hacia donde más se necesita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50292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572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4F7A12"/>
                </a:solidFill>
                <a:latin typeface="Calibri"/>
              </a:rPr>
              <a:t>EL CONTEXTO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49808"/>
            <a:ext cx="106372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Una ciudad que crece con presupuesto de agua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911535" cy="2794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382512"/>
            <a:ext cx="10911535" cy="12700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Luján de Cuyo · Innovación en gestión del suelo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731520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Luján de Cuyo (Mendoza): ~175.000 hab. (censo 2022; +46% vs 2010)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Oasis semiárido al pie de los Andes: ~200 mm de lluvia al año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8C8C8C"/>
                </a:solidFill>
                <a:latin typeface="Calibri"/>
              </a:rPr>
              <a:t>–  </a:t>
            </a:r>
            <a:r>
              <a:rPr sz="1600" b="0" i="0">
                <a:solidFill>
                  <a:srgbClr val="595959"/>
                </a:solidFill>
                <a:latin typeface="Calibri"/>
              </a:rPr>
              <a:t>todo el sistema productivo y urbano depende del deshielo andino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Dos tendencias en colisión: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8C8C8C"/>
                </a:solidFill>
                <a:latin typeface="Calibri"/>
              </a:rPr>
              <a:t>–  </a:t>
            </a:r>
            <a:r>
              <a:rPr sz="1600" b="0" i="0">
                <a:solidFill>
                  <a:srgbClr val="595959"/>
                </a:solidFill>
                <a:latin typeface="Calibri"/>
              </a:rPr>
              <a:t>el manto nival se reduce con el calentamiento (3 décadas)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8C8C8C"/>
                </a:solidFill>
                <a:latin typeface="Calibri"/>
              </a:rPr>
              <a:t>–  </a:t>
            </a:r>
            <a:r>
              <a:rPr sz="1600" b="0" i="0">
                <a:solidFill>
                  <a:srgbClr val="595959"/>
                </a:solidFill>
                <a:latin typeface="Calibri"/>
              </a:rPr>
              <a:t>la población crece y urbaniza el periurbano regado (viñedos y fincas)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Cada hectárea convertida suma demanda de agua y resta recarga del acuífero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74175" y="2011680"/>
            <a:ext cx="2103120" cy="2103120"/>
          </a:xfrm>
          <a:prstGeom prst="roundRect">
            <a:avLst/>
          </a:prstGeom>
          <a:solidFill>
            <a:srgbClr val="EAF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c_p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0674" y="2348179"/>
            <a:ext cx="1430122" cy="1430122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8945575" y="4480560"/>
            <a:ext cx="2377440" cy="1371600"/>
          </a:xfrm>
          <a:prstGeom prst="roundRect">
            <a:avLst/>
          </a:prstGeom>
          <a:solidFill>
            <a:srgbClr val="EAF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91295" y="4572000"/>
            <a:ext cx="22860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4F7A12"/>
                </a:solidFill>
                <a:latin typeface="Calibri"/>
              </a:rPr>
              <a:t>+46%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595959"/>
                </a:solidFill>
                <a:latin typeface="Calibri"/>
              </a:rPr>
              <a:t>crecimiento poblacional 2010–2022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50292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572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4F7A12"/>
                </a:solidFill>
                <a:latin typeface="Calibri"/>
              </a:rPr>
              <a:t>EL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49808"/>
            <a:ext cx="106372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La paradoja agua–suelo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911535" cy="2794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382512"/>
            <a:ext cx="10911535" cy="12700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Luján de Cuyo · Innovación en gestión del suelo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920240"/>
            <a:ext cx="1920240" cy="1920240"/>
          </a:xfrm>
          <a:prstGeom prst="roundRect">
            <a:avLst/>
          </a:prstGeom>
          <a:solidFill>
            <a:srgbClr val="EAF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c_wa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7318" y="2227478"/>
            <a:ext cx="1305764" cy="13057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926080" y="1783080"/>
            <a:ext cx="822960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900" b="0" i="0">
                <a:solidFill>
                  <a:srgbClr val="1A1A1A"/>
                </a:solidFill>
                <a:latin typeface="Calibri"/>
              </a:rPr>
              <a:t>Rezonificar un viñedo a loteo multiplica su valor varias veces</a:t>
            </a:r>
          </a:p>
          <a:p>
            <a:pPr>
              <a:spcAft>
                <a:spcPts val="1000"/>
              </a:spcAft>
            </a:pPr>
            <a:r>
              <a:rPr sz="19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900" b="0" i="0">
                <a:solidFill>
                  <a:srgbClr val="1A1A1A"/>
                </a:solidFill>
                <a:latin typeface="Calibri"/>
              </a:rPr>
              <a:t>Pero el mismo acto: sella el suelo, elimina recarga, sube la demanda de agua y borra sumidero de carbono</a:t>
            </a:r>
          </a:p>
          <a:p>
            <a:pPr>
              <a:spcAft>
                <a:spcPts val="1000"/>
              </a:spcAft>
            </a:pPr>
            <a:r>
              <a:rPr sz="19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900" b="0" i="0">
                <a:solidFill>
                  <a:srgbClr val="1A1A1A"/>
                </a:solidFill>
                <a:latin typeface="Calibri"/>
              </a:rPr>
              <a:t>Ganancia privada y costo colectivo, en una sola decisión —que otorga el propio Concejo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26080" y="4206240"/>
            <a:ext cx="8625535" cy="1280160"/>
          </a:xfrm>
          <a:prstGeom prst="roundRect">
            <a:avLst/>
          </a:prstGeom>
          <a:solidFill>
            <a:srgbClr val="EAF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0" y="4343400"/>
            <a:ext cx="8168335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4F7A12"/>
                </a:solidFill>
                <a:latin typeface="Calibri"/>
              </a:rPr>
              <a:t>→ El incremento de valor es la base natural para financiar la adaptación: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quien causa el costo, financia la respuesta.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50292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572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4F7A12"/>
                </a:solidFill>
                <a:latin typeface="Calibri"/>
              </a:rPr>
              <a:t>EL MARCO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49808"/>
            <a:ext cx="106372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¿Qué es la captura de valor del suelo (LVC)?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911535" cy="2794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382512"/>
            <a:ext cx="10911535" cy="12700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Luján de Cuyo · Innovación en gestión del suelo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06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57055" y="2011680"/>
            <a:ext cx="1920240" cy="1920240"/>
          </a:xfrm>
          <a:prstGeom prst="roundRect">
            <a:avLst/>
          </a:prstGeom>
          <a:solidFill>
            <a:srgbClr val="EAF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c_coi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4293" y="2318918"/>
            <a:ext cx="1305764" cy="13057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1783080"/>
            <a:ext cx="777240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El precio del suelo capitaliza la inversión pública, la regulación y el crecimiento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Buena parte de ese incremento es "no ganado" por el propietario (George; Glaeser; Duranton &amp; Puga)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→ Base eficiente (grava una ganancia no productiva) y justa (recae en quien la capturó)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Tradición latinoamericana: valorización (Colombia), CEPACs (São Paulo), Estatuto de la Ciudad (Brasil)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Brecha: la LVC corrió separada del financiamiento climático (Dunning &amp; Lord, 2020) — este caso las une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50292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572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4F7A12"/>
                </a:solidFill>
                <a:latin typeface="Calibri"/>
              </a:rPr>
              <a:t>POR QUÉ IMPORTA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49808"/>
            <a:ext cx="106372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El dinero sigue la capacidad, no la necesidad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911535" cy="2794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382512"/>
            <a:ext cx="10911535" cy="12700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Luján de Cuyo · Innovación en gestión del suelo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57055" y="2011680"/>
            <a:ext cx="1920240" cy="1920240"/>
          </a:xfrm>
          <a:prstGeom prst="roundRect">
            <a:avLst/>
          </a:prstGeom>
          <a:solidFill>
            <a:srgbClr val="EAF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c_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4293" y="2318918"/>
            <a:ext cx="1305764" cy="13057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1783080"/>
            <a:ext cx="777240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Las ciudades de economías en desarrollo necesitan ~USD 147 mil M/año de adaptación a 2030 (CCFLA, 2024)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El financiamiento climático fluye a las metrópolis con más capacidad, no a las más expuestas (Clifton et al., 2025)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Las ciudades intermedias quedan atrapadas: sin capacidad no acceden; sin acceso no construyen capacidad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→ La salida: generar recurso propio, predecible y blindado — la "llave" que pide el financista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50292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572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4F7A12"/>
                </a:solidFill>
                <a:latin typeface="Calibri"/>
              </a:rPr>
              <a:t>LA INNOVACIÓN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49808"/>
            <a:ext cx="106372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Un sistema, no instrumentos sueltos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911535" cy="2794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382512"/>
            <a:ext cx="10911535" cy="12700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Luján de Cuyo · Innovación en gestión del suelo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377440"/>
            <a:ext cx="205740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9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c_buil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300" y="2578608"/>
            <a:ext cx="822960" cy="822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1520" y="3474720"/>
            <a:ext cx="1874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 i="0">
                <a:solidFill>
                  <a:srgbClr val="4F7A12"/>
                </a:solidFill>
                <a:latin typeface="Calibri"/>
              </a:rPr>
              <a:t>Crear valor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595959"/>
                </a:solidFill>
                <a:latin typeface="Calibri"/>
              </a:rPr>
              <a:t>obra · rezonificación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706624" y="3246120"/>
            <a:ext cx="201168" cy="274320"/>
          </a:xfrm>
          <a:prstGeom prst="rightArrow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98648" y="2377440"/>
            <a:ext cx="205740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9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_coi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5868" y="2578608"/>
            <a:ext cx="822960" cy="8229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990088" y="3474720"/>
            <a:ext cx="1874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 i="0">
                <a:solidFill>
                  <a:srgbClr val="4F7A12"/>
                </a:solidFill>
                <a:latin typeface="Calibri"/>
              </a:rPr>
              <a:t>Capturar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595959"/>
                </a:solidFill>
                <a:latin typeface="Calibri"/>
              </a:rPr>
              <a:t>6 instrumentos LVC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965192" y="3246120"/>
            <a:ext cx="201168" cy="274320"/>
          </a:xfrm>
          <a:prstGeom prst="rightArrow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157216" y="2377440"/>
            <a:ext cx="205740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9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c_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4436" y="2578608"/>
            <a:ext cx="822960" cy="8229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248656" y="3474720"/>
            <a:ext cx="1874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 i="0">
                <a:solidFill>
                  <a:srgbClr val="4F7A12"/>
                </a:solidFill>
                <a:latin typeface="Calibri"/>
              </a:rPr>
              <a:t>Blindar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595959"/>
                </a:solidFill>
                <a:latin typeface="Calibri"/>
              </a:rPr>
              <a:t>Banco + Fondo + Fideicomiso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223760" y="3246120"/>
            <a:ext cx="201168" cy="274320"/>
          </a:xfrm>
          <a:prstGeom prst="rightArrow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415784" y="2377440"/>
            <a:ext cx="205740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9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c_targ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33004" y="2578608"/>
            <a:ext cx="822960" cy="82296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507224" y="3474720"/>
            <a:ext cx="1874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 i="0">
                <a:solidFill>
                  <a:srgbClr val="4F7A12"/>
                </a:solidFill>
                <a:latin typeface="Calibri"/>
              </a:rPr>
              <a:t>Redistribuir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595959"/>
                </a:solidFill>
                <a:latin typeface="Calibri"/>
              </a:rPr>
              <a:t>Índice de Ciudad Deseada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9482328" y="3246120"/>
            <a:ext cx="201168" cy="274320"/>
          </a:xfrm>
          <a:prstGeom prst="rightArrow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674352" y="2377440"/>
            <a:ext cx="205740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9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c_step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91572" y="2578608"/>
            <a:ext cx="822960" cy="8229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765792" y="3474720"/>
            <a:ext cx="1874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 i="0">
                <a:solidFill>
                  <a:srgbClr val="4F7A12"/>
                </a:solidFill>
                <a:latin typeface="Calibri"/>
              </a:rPr>
              <a:t>Apalancar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595959"/>
                </a:solidFill>
                <a:latin typeface="Calibri"/>
              </a:rPr>
              <a:t>grants · bono verde · multilaterales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1A1A1A"/>
                </a:solidFill>
                <a:latin typeface="Calibri"/>
              </a:rPr>
              <a:t>La coordinación es lo que convierte 6 cargos modestos en un sistema bancable.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F7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468880"/>
            <a:ext cx="1091153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Los seis instrumentos</a:t>
            </a:r>
          </a:p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E8F2D6"/>
                </a:solidFill>
                <a:latin typeface="Calibri"/>
              </a:rPr>
              <a:t>Cada uno captura el incremento en un punto distinto del ciclo de desarrollo</a:t>
            </a:r>
          </a:p>
        </p:txBody>
      </p:sp>
      <p:pic>
        <p:nvPicPr>
          <p:cNvPr id="3" name="Picture 2" descr="ic_buil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663440"/>
            <a:ext cx="868680" cy="868680"/>
          </a:xfrm>
          <a:prstGeom prst="rect">
            <a:avLst/>
          </a:prstGeom>
        </p:spPr>
      </p:pic>
      <p:pic>
        <p:nvPicPr>
          <p:cNvPr id="4" name="Picture 3" descr="ic_coi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4663440"/>
            <a:ext cx="868680" cy="868680"/>
          </a:xfrm>
          <a:prstGeom prst="rect">
            <a:avLst/>
          </a:prstGeom>
        </p:spPr>
      </p:pic>
      <p:pic>
        <p:nvPicPr>
          <p:cNvPr id="5" name="Picture 4" descr="ic_l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4663440"/>
            <a:ext cx="868680" cy="868680"/>
          </a:xfrm>
          <a:prstGeom prst="rect">
            <a:avLst/>
          </a:prstGeom>
        </p:spPr>
      </p:pic>
      <p:pic>
        <p:nvPicPr>
          <p:cNvPr id="6" name="Picture 5" descr="ic_step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6240" y="4663440"/>
            <a:ext cx="868680" cy="868680"/>
          </a:xfrm>
          <a:prstGeom prst="rect">
            <a:avLst/>
          </a:prstGeom>
        </p:spPr>
      </p:pic>
      <p:pic>
        <p:nvPicPr>
          <p:cNvPr id="7" name="Picture 6" descr="ic_lea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94960" y="4663440"/>
            <a:ext cx="868680" cy="868680"/>
          </a:xfrm>
          <a:prstGeom prst="rect">
            <a:avLst/>
          </a:prstGeom>
        </p:spPr>
      </p:pic>
      <p:pic>
        <p:nvPicPr>
          <p:cNvPr id="8" name="Picture 7" descr="ic_transf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0" y="4663440"/>
            <a:ext cx="868680" cy="868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50292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572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4F7A12"/>
                </a:solidFill>
                <a:latin typeface="Calibri"/>
              </a:rPr>
              <a:t>INSTRUMENTO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49808"/>
            <a:ext cx="106372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Contribución por Mejoras (betterment)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911535" cy="2794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382512"/>
            <a:ext cx="10911535" cy="12700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Luján de Cuyo · Innovación en gestión del suelo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10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1783080"/>
            <a:ext cx="777240" cy="777240"/>
          </a:xfrm>
          <a:prstGeom prst="ellipse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48495" y="1920240"/>
            <a:ext cx="1828800" cy="1828800"/>
          </a:xfrm>
          <a:prstGeom prst="roundRect">
            <a:avLst/>
          </a:prstGeom>
          <a:solidFill>
            <a:srgbClr val="EAF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c_buil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1103" y="2212848"/>
            <a:ext cx="1243584" cy="1243584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1645920" y="1938528"/>
            <a:ext cx="969264" cy="384048"/>
          </a:xfrm>
          <a:prstGeom prst="round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Diseñado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697480"/>
            <a:ext cx="786384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Grava el aumento de valor que una obra pública genera en los inmuebles vecinos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Tasa: 30–50% del incremento de avalúo en una "zona de beneficio" (delimitada por SIG)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Pago en cuotas para no golpear a hogares de menores ingresos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La recaudación de obras hídricas se afecta al fondo de adaptación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8C8C8C"/>
                </a:solidFill>
                <a:latin typeface="Calibri"/>
              </a:rPr>
              <a:t>–  </a:t>
            </a:r>
            <a:r>
              <a:rPr sz="1600" b="0" i="0">
                <a:solidFill>
                  <a:srgbClr val="595959"/>
                </a:solidFill>
                <a:latin typeface="Calibri"/>
              </a:rPr>
              <a:t>doble función: financia la obra y demuestra, en efectivo, que rindió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50292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572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4F7A12"/>
                </a:solidFill>
                <a:latin typeface="Calibri"/>
              </a:rPr>
              <a:t>INSTRUMENTO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49808"/>
            <a:ext cx="106372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Participación en la Valoración de Activos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911535" cy="2794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382512"/>
            <a:ext cx="10911535" cy="12700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Luján de Cuyo · Innovación en gestión del suelo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11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1783080"/>
            <a:ext cx="777240" cy="777240"/>
          </a:xfrm>
          <a:prstGeom prst="ellipse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48495" y="1920240"/>
            <a:ext cx="1828800" cy="1828800"/>
          </a:xfrm>
          <a:prstGeom prst="roundRect">
            <a:avLst/>
          </a:prstGeom>
          <a:solidFill>
            <a:srgbClr val="EAF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c_coi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1103" y="2212848"/>
            <a:ext cx="1243584" cy="1243584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1645920" y="1938528"/>
            <a:ext cx="969264" cy="384048"/>
          </a:xfrm>
          <a:prstGeom prst="round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Diseñado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697480"/>
            <a:ext cx="786384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Grava la plusvalía por rezonificación o mayor intensidad de uso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Tasa: 30–50% del diferencial de valor antes/después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Es la lógica del sistema en miniatura: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8C8C8C"/>
                </a:solidFill>
                <a:latin typeface="Calibri"/>
              </a:rPr>
              <a:t>–  </a:t>
            </a:r>
            <a:r>
              <a:rPr sz="1600" b="0" i="0">
                <a:solidFill>
                  <a:srgbClr val="595959"/>
                </a:solidFill>
                <a:latin typeface="Calibri"/>
              </a:rPr>
              <a:t>la conversión de suelo permeable a impermeable genera el costo…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8C8C8C"/>
                </a:solidFill>
                <a:latin typeface="Calibri"/>
              </a:rPr>
              <a:t>–  </a:t>
            </a:r>
            <a:r>
              <a:rPr sz="1600" b="0" i="0">
                <a:solidFill>
                  <a:srgbClr val="595959"/>
                </a:solidFill>
                <a:latin typeface="Calibri"/>
              </a:rPr>
              <a:t>…y el mismo instrumento captura el pago que lo financia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50292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572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4F7A12"/>
                </a:solidFill>
                <a:latin typeface="Calibri"/>
              </a:rPr>
              <a:t>INSTRUMENTO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49808"/>
            <a:ext cx="106372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Sobretasa a Inmueble Ocioso (baldíos)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911535" cy="2794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382512"/>
            <a:ext cx="10911535" cy="12700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Luján de Cuyo · Innovación en gestión del suelo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12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1783080"/>
            <a:ext cx="777240" cy="777240"/>
          </a:xfrm>
          <a:prstGeom prst="ellipse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48495" y="1920240"/>
            <a:ext cx="1828800" cy="1828800"/>
          </a:xfrm>
          <a:prstGeom prst="roundRect">
            <a:avLst/>
          </a:prstGeom>
          <a:solidFill>
            <a:srgbClr val="EAF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c_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1103" y="2212848"/>
            <a:ext cx="1243584" cy="1243584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1645920" y="1938528"/>
            <a:ext cx="1065276" cy="384048"/>
          </a:xfrm>
          <a:prstGeom prst="round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OPERATIVO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697480"/>
            <a:ext cx="786384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Grava parcelas servidas pero ociosas dentro del perímetro urbano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Recargo progresivo: +100% (zonas estándar) y +200% (vacíos prioritarios)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Datos reales 2026: 5.315 lotes (4.996 al +100%; 319 al +200%)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Recaudación estimada ~ARS 345 M/año (≈ USD 277.500)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8C8C8C"/>
                </a:solidFill>
                <a:latin typeface="Calibri"/>
              </a:rPr>
              <a:t>–  </a:t>
            </a:r>
            <a:r>
              <a:rPr sz="1600" b="0" i="0">
                <a:solidFill>
                  <a:srgbClr val="595959"/>
                </a:solidFill>
                <a:latin typeface="Calibri"/>
              </a:rPr>
              <a:t>promueve desarrollo compacto; usa el padrón existente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50292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572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4F7A12"/>
                </a:solidFill>
                <a:latin typeface="Calibri"/>
              </a:rPr>
              <a:t>INSTRUMENTO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49808"/>
            <a:ext cx="106372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Suelo Creado / Derechos de Construcción Adicional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911535" cy="2794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382512"/>
            <a:ext cx="10911535" cy="12700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Luján de Cuyo · Innovación en gestión del suelo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13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1783080"/>
            <a:ext cx="777240" cy="777240"/>
          </a:xfrm>
          <a:prstGeom prst="ellipse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48495" y="1920240"/>
            <a:ext cx="1828800" cy="1828800"/>
          </a:xfrm>
          <a:prstGeom prst="roundRect">
            <a:avLst/>
          </a:prstGeom>
          <a:solidFill>
            <a:srgbClr val="EAF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c_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1103" y="2212848"/>
            <a:ext cx="1243584" cy="1243584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1645920" y="1938528"/>
            <a:ext cx="969264" cy="384048"/>
          </a:xfrm>
          <a:prstGeom prst="round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Diseñado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697480"/>
            <a:ext cx="786384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Vende el derecho a construir por encima de una "línea de base"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Modelo CEPAC (São Paulo) adaptado a ciudad intermedia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COS 2026: base 10 m → máximo 36 m (~8,7 pisos extra) sólo vía compra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Precio por m² referenciado al mercado; bonos por eficiencia hídrica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50292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572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4F7A12"/>
                </a:solidFill>
                <a:latin typeface="Calibri"/>
              </a:rPr>
              <a:t>INSTRUMENTOS 5 Y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49808"/>
            <a:ext cx="106372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Incentivos fiscales · Transferencia de Derechos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911535" cy="2794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382512"/>
            <a:ext cx="10911535" cy="12700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Luján de Cuyo · Innovación en gestión del suelo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14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1783080"/>
            <a:ext cx="777240" cy="777240"/>
          </a:xfrm>
          <a:prstGeom prst="ellipse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48495" y="1920240"/>
            <a:ext cx="1828800" cy="1828800"/>
          </a:xfrm>
          <a:prstGeom prst="roundRect">
            <a:avLst/>
          </a:prstGeom>
          <a:solidFill>
            <a:srgbClr val="EAF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c_le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1103" y="2212848"/>
            <a:ext cx="1243584" cy="1243584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1645920" y="1938528"/>
            <a:ext cx="1065276" cy="384048"/>
          </a:xfrm>
          <a:prstGeom prst="round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Diseñados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697480"/>
            <a:ext cx="786384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Incentivos fiscales — un "gradiente verde":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8C8C8C"/>
                </a:solidFill>
                <a:latin typeface="Calibri"/>
              </a:rPr>
              <a:t>–  </a:t>
            </a:r>
            <a:r>
              <a:rPr sz="1600" b="0" i="0">
                <a:solidFill>
                  <a:srgbClr val="595959"/>
                </a:solidFill>
                <a:latin typeface="Calibri"/>
              </a:rPr>
              <a:t>descuentos por eficiencia hídrica, permeabilidad, arbolado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8C8C8C"/>
                </a:solidFill>
                <a:latin typeface="Calibri"/>
              </a:rPr>
              <a:t>–  </a:t>
            </a:r>
            <a:r>
              <a:rPr sz="1600" b="0" i="0">
                <a:solidFill>
                  <a:srgbClr val="595959"/>
                </a:solidFill>
                <a:latin typeface="Calibri"/>
              </a:rPr>
              <a:t>sin adaptación: cargo pleno; con adaptación: alivio fiscal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Transferencia de Derechos (TDR):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8C8C8C"/>
                </a:solidFill>
                <a:latin typeface="Calibri"/>
              </a:rPr>
              <a:t>–  </a:t>
            </a:r>
            <a:r>
              <a:rPr sz="1600" b="0" i="0">
                <a:solidFill>
                  <a:srgbClr val="595959"/>
                </a:solidFill>
                <a:latin typeface="Calibri"/>
              </a:rPr>
              <a:t>proteger recarga, riberas y agro sin comprar el suelo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8C8C8C"/>
                </a:solidFill>
                <a:latin typeface="Calibri"/>
              </a:rPr>
              <a:t>–  </a:t>
            </a:r>
            <a:r>
              <a:rPr sz="1600" b="0" i="0">
                <a:solidFill>
                  <a:srgbClr val="595959"/>
                </a:solidFill>
                <a:latin typeface="Calibri"/>
              </a:rPr>
              <a:t>zonas emisoras venden derechos a receptoras (mercado)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50292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572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4F7A12"/>
                </a:solidFill>
                <a:latin typeface="Calibri"/>
              </a:rPr>
              <a:t>(+) EL INSTRUMENTO ESTRELLA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49808"/>
            <a:ext cx="106372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Aporte de Agua y Cloaca — la evidencia más fuerte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911535" cy="2794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382512"/>
            <a:ext cx="10911535" cy="12700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Luján de Cuyo · Innovación en gestión del suelo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65276" cy="384048"/>
          </a:xfrm>
          <a:prstGeom prst="round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OPERATIVO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31720"/>
            <a:ext cx="502920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1A1A1A"/>
                </a:solidFill>
                <a:latin typeface="Calibri"/>
              </a:rPr>
              <a:t>Cargo de desarrollo para reservar capacidad de servicio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1A1A1A"/>
                </a:solidFill>
                <a:latin typeface="Calibri"/>
              </a:rPr>
              <a:t>Recaudación real (USD constantes, ajustada por inflación y TC):</a:t>
            </a:r>
          </a:p>
          <a:p>
            <a:pPr lvl="1"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Calibri"/>
              </a:rPr>
              <a:t>–  </a:t>
            </a:r>
            <a:r>
              <a:rPr sz="1500" b="0" i="0">
                <a:solidFill>
                  <a:srgbClr val="595959"/>
                </a:solidFill>
                <a:latin typeface="Calibri"/>
              </a:rPr>
              <a:t>2021: USD 60.700  →  2025: USD 690.500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1A1A1A"/>
                </a:solidFill>
                <a:latin typeface="Calibri"/>
              </a:rPr>
              <a:t>Prueba de concepto en efectivo: un cargo ligado al suelo escala en pocos años</a:t>
            </a:r>
          </a:p>
        </p:txBody>
      </p:sp>
      <p:pic>
        <p:nvPicPr>
          <p:cNvPr id="11" name="Picture 10" descr="chart_grow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828800"/>
            <a:ext cx="5852160" cy="331109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50292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572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4F7A12"/>
                </a:solidFill>
                <a:latin typeface="Calibri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49808"/>
            <a:ext cx="106372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Los instrumentos de un vistazo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911535" cy="2794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382512"/>
            <a:ext cx="10911535" cy="12700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Luján de Cuyo · Innovación en gestión del suelo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16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783080"/>
          <a:ext cx="11064240" cy="3072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2834640"/>
                <a:gridCol w="3108960"/>
                <a:gridCol w="1828800"/>
              </a:tblGrid>
              <a:tr h="384048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Instrumento</a:t>
                      </a:r>
                    </a:p>
                  </a:txBody>
                  <a:tcPr marT="38100" marB="38100" marL="88900" anchor="ctr">
                    <a:solidFill>
                      <a:srgbClr val="4F7A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Disparador</a:t>
                      </a:r>
                    </a:p>
                  </a:txBody>
                  <a:tcPr marT="38100" marB="38100" marL="88900" anchor="ctr">
                    <a:solidFill>
                      <a:srgbClr val="4F7A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Tasa / base</a:t>
                      </a:r>
                    </a:p>
                  </a:txBody>
                  <a:tcPr marT="38100" marB="38100" marL="88900" anchor="ctr">
                    <a:solidFill>
                      <a:srgbClr val="4F7A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marT="38100" marB="38100" marL="88900" anchor="ctr">
                    <a:solidFill>
                      <a:srgbClr val="4F7A1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Calibri"/>
                        </a:rPr>
                        <a:t>Contribución por Mejoras</a:t>
                      </a:r>
                    </a:p>
                  </a:txBody>
                  <a:tcPr marT="38100" marB="38100" marL="889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Calibri"/>
                        </a:rPr>
                        <a:t>Obra pública</a:t>
                      </a:r>
                    </a:p>
                  </a:txBody>
                  <a:tcPr marT="38100" marB="38100" marL="889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Calibri"/>
                        </a:rPr>
                        <a:t>30–50% del incremento</a:t>
                      </a:r>
                    </a:p>
                  </a:txBody>
                  <a:tcPr marT="38100" marB="38100" marL="889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Calibri"/>
                        </a:rPr>
                        <a:t>Diseñado</a:t>
                      </a:r>
                    </a:p>
                  </a:txBody>
                  <a:tcPr marT="38100" marB="38100" marL="889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Calibri"/>
                        </a:rPr>
                        <a:t>Participación en Valoración</a:t>
                      </a:r>
                    </a:p>
                  </a:txBody>
                  <a:tcPr marT="38100" marB="38100" marL="88900" anchor="ctr">
                    <a:solidFill>
                      <a:srgbClr val="EAF3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Calibri"/>
                        </a:rPr>
                        <a:t>Rezonificación</a:t>
                      </a:r>
                    </a:p>
                  </a:txBody>
                  <a:tcPr marT="38100" marB="38100" marL="88900" anchor="ctr">
                    <a:solidFill>
                      <a:srgbClr val="EAF3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Calibri"/>
                        </a:rPr>
                        <a:t>30–50% del diferencial</a:t>
                      </a:r>
                    </a:p>
                  </a:txBody>
                  <a:tcPr marT="38100" marB="38100" marL="88900" anchor="ctr">
                    <a:solidFill>
                      <a:srgbClr val="EAF3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Calibri"/>
                        </a:rPr>
                        <a:t>Diseñado</a:t>
                      </a:r>
                    </a:p>
                  </a:txBody>
                  <a:tcPr marT="38100" marB="38100" marL="88900" anchor="ctr">
                    <a:solidFill>
                      <a:srgbClr val="EAF3D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Calibri"/>
                        </a:rPr>
                        <a:t>Sobretasa a baldíos</a:t>
                      </a:r>
                    </a:p>
                  </a:txBody>
                  <a:tcPr marT="38100" marB="38100" marL="889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Calibri"/>
                        </a:rPr>
                        <a:t>Lote ocioso servido</a:t>
                      </a:r>
                    </a:p>
                  </a:txBody>
                  <a:tcPr marT="38100" marB="38100" marL="889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Calibri"/>
                        </a:rPr>
                        <a:t>+100% / +200%</a:t>
                      </a:r>
                    </a:p>
                  </a:txBody>
                  <a:tcPr marT="38100" marB="38100" marL="889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4F7A12"/>
                          </a:solidFill>
                          <a:latin typeface="Calibri"/>
                        </a:rPr>
                        <a:t>OPERATIVO</a:t>
                      </a:r>
                    </a:p>
                  </a:txBody>
                  <a:tcPr marT="38100" marB="38100" marL="889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Calibri"/>
                        </a:rPr>
                        <a:t>Suelo Creado / DCA</a:t>
                      </a:r>
                    </a:p>
                  </a:txBody>
                  <a:tcPr marT="38100" marB="38100" marL="88900" anchor="ctr">
                    <a:solidFill>
                      <a:srgbClr val="EAF3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Calibri"/>
                        </a:rPr>
                        <a:t>Edificar sobre la base</a:t>
                      </a:r>
                    </a:p>
                  </a:txBody>
                  <a:tcPr marT="38100" marB="38100" marL="88900" anchor="ctr">
                    <a:solidFill>
                      <a:srgbClr val="EAF3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Calibri"/>
                        </a:rPr>
                        <a:t>Mercado (COS 2026)</a:t>
                      </a:r>
                    </a:p>
                  </a:txBody>
                  <a:tcPr marT="38100" marB="38100" marL="88900" anchor="ctr">
                    <a:solidFill>
                      <a:srgbClr val="EAF3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Calibri"/>
                        </a:rPr>
                        <a:t>Diseñado</a:t>
                      </a:r>
                    </a:p>
                  </a:txBody>
                  <a:tcPr marT="38100" marB="38100" marL="88900" anchor="ctr">
                    <a:solidFill>
                      <a:srgbClr val="EAF3D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Calibri"/>
                        </a:rPr>
                        <a:t>Incentivos fiscales</a:t>
                      </a:r>
                    </a:p>
                  </a:txBody>
                  <a:tcPr marT="38100" marB="38100" marL="889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Calibri"/>
                        </a:rPr>
                        <a:t>Diseño climático</a:t>
                      </a:r>
                    </a:p>
                  </a:txBody>
                  <a:tcPr marT="38100" marB="38100" marL="889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Calibri"/>
                        </a:rPr>
                        <a:t>Alivio variable</a:t>
                      </a:r>
                    </a:p>
                  </a:txBody>
                  <a:tcPr marT="38100" marB="38100" marL="889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Calibri"/>
                        </a:rPr>
                        <a:t>Diseñado</a:t>
                      </a:r>
                    </a:p>
                  </a:txBody>
                  <a:tcPr marT="38100" marB="38100" marL="889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Calibri"/>
                        </a:rPr>
                        <a:t>Transferencia de Derechos</a:t>
                      </a:r>
                    </a:p>
                  </a:txBody>
                  <a:tcPr marT="38100" marB="38100" marL="88900" anchor="ctr">
                    <a:solidFill>
                      <a:srgbClr val="EAF3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Calibri"/>
                        </a:rPr>
                        <a:t>Zona receptora</a:t>
                      </a:r>
                    </a:p>
                  </a:txBody>
                  <a:tcPr marT="38100" marB="38100" marL="88900" anchor="ctr">
                    <a:solidFill>
                      <a:srgbClr val="EAF3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Calibri"/>
                        </a:rPr>
                        <a:t>Mercado</a:t>
                      </a:r>
                    </a:p>
                  </a:txBody>
                  <a:tcPr marT="38100" marB="38100" marL="88900" anchor="ctr">
                    <a:solidFill>
                      <a:srgbClr val="EAF3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Calibri"/>
                        </a:rPr>
                        <a:t>Diseñado</a:t>
                      </a:r>
                    </a:p>
                  </a:txBody>
                  <a:tcPr marT="38100" marB="38100" marL="88900" anchor="ctr">
                    <a:solidFill>
                      <a:srgbClr val="EAF3D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Calibri"/>
                        </a:rPr>
                        <a:t>Aporte Agua y Cloaca</a:t>
                      </a:r>
                    </a:p>
                  </a:txBody>
                  <a:tcPr marT="38100" marB="38100" marL="889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Calibri"/>
                        </a:rPr>
                        <a:t>Nuevo desarrollo</a:t>
                      </a:r>
                    </a:p>
                  </a:txBody>
                  <a:tcPr marT="38100" marB="38100" marL="889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Calibri"/>
                        </a:rPr>
                        <a:t>Tarifaria</a:t>
                      </a:r>
                    </a:p>
                  </a:txBody>
                  <a:tcPr marT="38100" marB="38100" marL="889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4F7A12"/>
                          </a:solidFill>
                          <a:latin typeface="Calibri"/>
                        </a:rPr>
                        <a:t>OPERATIVO · 11×</a:t>
                      </a:r>
                    </a:p>
                  </a:txBody>
                  <a:tcPr marT="38100" marB="38100" marL="889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50292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572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4F7A12"/>
                </a:solidFill>
                <a:latin typeface="Calibri"/>
              </a:rPr>
              <a:t>LA ARQUITECTURA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49808"/>
            <a:ext cx="106372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¿Por qué un Fideicomiso?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911535" cy="2794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382512"/>
            <a:ext cx="10911535" cy="12700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Luján de Cuyo · Innovación en gestión del suelo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495" y="1828800"/>
            <a:ext cx="1828800" cy="1828800"/>
          </a:xfrm>
          <a:prstGeom prst="roundRect">
            <a:avLst/>
          </a:prstGeom>
          <a:solidFill>
            <a:srgbClr val="EAF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c_shie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1103" y="2121408"/>
            <a:ext cx="1243584" cy="12435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1783080"/>
            <a:ext cx="777240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Recurso blindado, legalmente separado del presupuesto general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Es el "colateral" que un banco o un bono puede ver y auditar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Gobernanza: directorio + 2 externos, mayoría calificada, auditoría publicada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8C8C8C"/>
                </a:solidFill>
                <a:latin typeface="Calibri"/>
              </a:rPr>
              <a:t>–  </a:t>
            </a:r>
            <a:r>
              <a:rPr sz="1600" b="0" i="0">
                <a:solidFill>
                  <a:srgbClr val="595959"/>
                </a:solidFill>
                <a:latin typeface="Calibri"/>
              </a:rPr>
              <a:t>blinda los recursos entre gestiones electorales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206240"/>
            <a:ext cx="3520440" cy="1280160"/>
          </a:xfrm>
          <a:prstGeom prst="roundRect">
            <a:avLst/>
          </a:prstGeom>
          <a:solidFill>
            <a:srgbClr val="4F7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315968"/>
            <a:ext cx="33375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60%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Inversión en infraestructura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19" y="4206240"/>
            <a:ext cx="3520440" cy="1280160"/>
          </a:xfrm>
          <a:prstGeom prst="round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59" y="4315968"/>
            <a:ext cx="33375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25%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Operación y mantenimiento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58" y="4206240"/>
            <a:ext cx="3520440" cy="1280160"/>
          </a:xfrm>
          <a:prstGeom prst="roundRect">
            <a:avLst/>
          </a:prstGeom>
          <a:solidFill>
            <a:srgbClr val="A9D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598" y="4315968"/>
            <a:ext cx="33375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15%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Cuenta de Apalancamiento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50292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572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4F7A12"/>
                </a:solidFill>
                <a:latin typeface="Calibri"/>
              </a:rPr>
              <a:t>DE RECURSO PROPIO A CAPITAL GLOBAL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49808"/>
            <a:ext cx="106372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La escalera de apalancamiento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911535" cy="2794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382512"/>
            <a:ext cx="10911535" cy="12700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Luján de Cuyo · Innovación en gestión del suelo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18</a:t>
            </a:r>
          </a:p>
        </p:txBody>
      </p:sp>
      <p:pic>
        <p:nvPicPr>
          <p:cNvPr id="9" name="Picture 8" descr="chart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737360"/>
            <a:ext cx="6766560" cy="36264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955279" y="2011680"/>
            <a:ext cx="3931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1A1A1A"/>
                </a:solidFill>
                <a:latin typeface="Calibri"/>
              </a:rPr>
              <a:t>Matching: la Cuenta de Apalancamiento (~USD 0,45 M/año) ancla la contrapartida de 10–30%</a:t>
            </a:r>
          </a:p>
          <a:p>
            <a:pPr>
              <a:spcAft>
                <a:spcPts val="900"/>
              </a:spcAft>
            </a:pPr>
            <a:r>
              <a:rPr sz="17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1A1A1A"/>
                </a:solidFill>
                <a:latin typeface="Calibri"/>
              </a:rPr>
              <a:t>Emitir: bono verde de 3–4× la recaudación anual (~USD 9–12 M)</a:t>
            </a:r>
          </a:p>
          <a:p>
            <a:pPr>
              <a:spcAft>
                <a:spcPts val="900"/>
              </a:spcAft>
            </a:pPr>
            <a:r>
              <a:rPr sz="17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1A1A1A"/>
                </a:solidFill>
                <a:latin typeface="Calibri"/>
              </a:rPr>
              <a:t>Escalar: el historial abre facilidades mayores (CAF, BID, GCF)</a:t>
            </a:r>
          </a:p>
          <a:p>
            <a:pPr lvl="1"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Calibri"/>
              </a:rPr>
              <a:t>–  </a:t>
            </a:r>
            <a:r>
              <a:rPr sz="1500" b="0" i="0">
                <a:solidFill>
                  <a:srgbClr val="595959"/>
                </a:solidFill>
                <a:latin typeface="Calibri"/>
              </a:rPr>
              <a:t>la credibilidad, como el capital, se acumula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50292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572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4F7A12"/>
                </a:solidFill>
                <a:latin typeface="Calibri"/>
              </a:rPr>
              <a:t>LA REGLA DE GASTO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49808"/>
            <a:ext cx="106372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Índice de Ciudad Deseada (ICD)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911535" cy="2794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382512"/>
            <a:ext cx="10911535" cy="12700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Luján de Cuyo · Innovación en gestión del suelo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920240"/>
            <a:ext cx="3520440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9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c_le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48840"/>
            <a:ext cx="731520" cy="731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691640" y="1920240"/>
            <a:ext cx="2377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A1A1A"/>
                </a:solidFill>
                <a:latin typeface="Calibri"/>
              </a:rPr>
              <a:t>Espacios verdes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19" y="1920240"/>
            <a:ext cx="3520440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9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c_transf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79" y="2148840"/>
            <a:ext cx="731520" cy="731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40679" y="1920240"/>
            <a:ext cx="2377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A1A1A"/>
                </a:solidFill>
                <a:latin typeface="Calibri"/>
              </a:rPr>
              <a:t>Movilidad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58" y="1920240"/>
            <a:ext cx="3520440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9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c_build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18" y="2148840"/>
            <a:ext cx="731520" cy="7315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189718" y="1920240"/>
            <a:ext cx="2377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A1A1A"/>
                </a:solidFill>
                <a:latin typeface="Calibri"/>
              </a:rPr>
              <a:t>Compacidad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291840"/>
            <a:ext cx="3520440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9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_targ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520440"/>
            <a:ext cx="731520" cy="7315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691640" y="3291840"/>
            <a:ext cx="2377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A1A1A"/>
                </a:solidFill>
                <a:latin typeface="Calibri"/>
              </a:rPr>
              <a:t>Servicios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9119" y="3291840"/>
            <a:ext cx="3520440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9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c_sca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6279" y="3520440"/>
            <a:ext cx="731520" cy="731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440679" y="3291840"/>
            <a:ext cx="2377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A1A1A"/>
                </a:solidFill>
                <a:latin typeface="Calibri"/>
              </a:rPr>
              <a:t>Equidad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38158" y="3291840"/>
            <a:ext cx="3520440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9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c_wat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75318" y="3520440"/>
            <a:ext cx="731520" cy="7315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189718" y="3291840"/>
            <a:ext cx="2377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A1A1A"/>
                </a:solidFill>
                <a:latin typeface="Calibri"/>
              </a:rPr>
              <a:t>Infraestr. básica (agua)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892040"/>
            <a:ext cx="109115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A1A1A"/>
                </a:solidFill>
                <a:latin typeface="Calibri"/>
              </a:rPr>
              <a:t>Escala A–E (A ≥90% … E &lt;25%); </a:t>
            </a:r>
            <a:r>
              <a:rPr sz="1600" b="1" i="0">
                <a:solidFill>
                  <a:srgbClr val="4F7A12"/>
                </a:solidFill>
                <a:latin typeface="Calibri"/>
              </a:rPr>
              <a:t>menor nota = mayor prioridad. </a:t>
            </a:r>
            <a:r>
              <a:rPr sz="1600" b="0" i="0">
                <a:solidFill>
                  <a:srgbClr val="595959"/>
                </a:solidFill>
                <a:latin typeface="Calibri"/>
              </a:rPr>
              <a:t>Asigna la inversión a la necesidad y genera la evidencia que pide el financista.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50292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572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4F7A12"/>
                </a:solidFill>
                <a:latin typeface="Calibri"/>
              </a:rPr>
              <a:t>LA PRUEBA DE EQUIDAD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49808"/>
            <a:ext cx="106372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¿Dónde se necesita vs. dónde se invierte?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911535" cy="2794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382512"/>
            <a:ext cx="10911535" cy="12700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Luján de Cuyo · Innovación en gestión del suelo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20</a:t>
            </a:r>
          </a:p>
        </p:txBody>
      </p:sp>
      <p:pic>
        <p:nvPicPr>
          <p:cNvPr id="9" name="Picture 8" descr="chart_align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91640"/>
            <a:ext cx="7315200" cy="410168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0" y="1920240"/>
            <a:ext cx="36576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1A1A1A"/>
                </a:solidFill>
                <a:latin typeface="Calibri"/>
              </a:rPr>
              <a:t>Las 2 mayores inversiones caen en distritos que YA puntúan bien en verde</a:t>
            </a:r>
          </a:p>
          <a:p>
            <a:pPr>
              <a:spcAft>
                <a:spcPts val="1200"/>
              </a:spcAft>
            </a:pPr>
            <a:r>
              <a:rPr sz="15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1A1A1A"/>
                </a:solidFill>
                <a:latin typeface="Calibri"/>
              </a:rPr>
              <a:t>Los más necesitados (Vistalba, Las Compuertas, Industrial) no reciben obra verde</a:t>
            </a:r>
          </a:p>
          <a:p>
            <a:pPr>
              <a:spcAft>
                <a:spcPts val="1200"/>
              </a:spcAft>
            </a:pPr>
            <a:r>
              <a:rPr sz="15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1A1A1A"/>
                </a:solidFill>
                <a:latin typeface="Calibri"/>
              </a:rPr>
              <a:t>La palanca: las microplazas (ARS 1.200 M) → asignarlas a distritos D/E alinea inversión con necesidad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50292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572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4F7A12"/>
                </a:solidFill>
                <a:latin typeface="Calibri"/>
              </a:rPr>
              <a:t>LOS NÚMEROS REALES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49808"/>
            <a:ext cx="106372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Potencial de recaudación (antes de apalancar)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911535" cy="2794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382512"/>
            <a:ext cx="10911535" cy="12700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Luján de Cuyo · Innovación en gestión del suelo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21</a:t>
            </a:r>
          </a:p>
        </p:txBody>
      </p:sp>
      <p:pic>
        <p:nvPicPr>
          <p:cNvPr id="9" name="Picture 8" descr="chart_reven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6949440" cy="383110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955279" y="2011680"/>
            <a:ext cx="393192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4F7A12"/>
                </a:solidFill>
                <a:latin typeface="Calibri"/>
              </a:rPr>
              <a:t>~USD 1 M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595959"/>
                </a:solidFill>
                <a:latin typeface="Calibri"/>
              </a:rPr>
              <a:t>YA se recauda hoy (2 instrumentos)</a:t>
            </a:r>
          </a:p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4F7A12"/>
                </a:solidFill>
                <a:latin typeface="Calibri"/>
              </a:rPr>
              <a:t>~USD 3 M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595959"/>
                </a:solidFill>
                <a:latin typeface="Calibri"/>
              </a:rPr>
              <a:t>potencial del paquete (base)</a:t>
            </a:r>
          </a:p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A1A1A"/>
                </a:solidFill>
                <a:latin typeface="Calibri"/>
              </a:rPr>
              <a:t>USD 56 M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595959"/>
                </a:solidFill>
                <a:latin typeface="Calibri"/>
              </a:rPr>
              <a:t>brecha de espacio verde → la cierra el bono verde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50292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572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4F7A12"/>
                </a:solidFill>
                <a:latin typeface="Calibri"/>
              </a:rPr>
              <a:t>EQUIDAD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49808"/>
            <a:ext cx="106372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¿Quién paga y quién se beneficia?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911535" cy="2794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382512"/>
            <a:ext cx="10911535" cy="12700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Luján de Cuyo · Innovación en gestión del suelo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495" y="1828800"/>
            <a:ext cx="1828800" cy="1828800"/>
          </a:xfrm>
          <a:prstGeom prst="roundRect">
            <a:avLst/>
          </a:prstGeom>
          <a:solidFill>
            <a:srgbClr val="EAF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c_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1103" y="2121408"/>
            <a:ext cx="1243584" cy="12435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1783080"/>
            <a:ext cx="777240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Paga quien captura la plusvalía: desarrolladores, dueños de suelo ocioso (bases progresivas)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Se beneficia el distrito con menor acceso a verde, agua y servicios (vía ICD)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Deliberadamente redistributivo: capturar donde se crea valor, gastar donde el déficit es mayor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8C8C8C"/>
                </a:solidFill>
                <a:latin typeface="Calibri"/>
              </a:rPr>
              <a:t>–  </a:t>
            </a:r>
            <a:r>
              <a:rPr sz="1600" b="0" i="0">
                <a:solidFill>
                  <a:srgbClr val="595959"/>
                </a:solidFill>
                <a:latin typeface="Calibri"/>
              </a:rPr>
              <a:t>con suelo inelástico (límite hídrico), la carga recae en el terrateniente → caso progresivo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50292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572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4F7A12"/>
                </a:solidFill>
                <a:latin typeface="Calibri"/>
              </a:rPr>
              <a:t>NO SÓLO ADAPTACIÓN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49808"/>
            <a:ext cx="106372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Co-beneficios low-carbon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911535" cy="2794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382512"/>
            <a:ext cx="10911535" cy="12700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Luján de Cuyo · Innovación en gestión del suelo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495" y="1828800"/>
            <a:ext cx="1828800" cy="1828800"/>
          </a:xfrm>
          <a:prstGeom prst="roundRect">
            <a:avLst/>
          </a:prstGeom>
          <a:solidFill>
            <a:srgbClr val="EAF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c_co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1103" y="2121408"/>
            <a:ext cx="1243584" cy="12435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1783080"/>
            <a:ext cx="777240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Los instrumentos premian el desarrollo compacto y orientado al transporte (TOD)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8C8C8C"/>
                </a:solidFill>
                <a:latin typeface="Calibri"/>
              </a:rPr>
              <a:t>–  </a:t>
            </a:r>
            <a:r>
              <a:rPr sz="1600" b="0" i="0">
                <a:solidFill>
                  <a:srgbClr val="595959"/>
                </a:solidFill>
                <a:latin typeface="Calibri"/>
              </a:rPr>
              <a:t>corredor del metrotranvía y centralidades concentran la edificabilidad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8C8C8C"/>
                </a:solidFill>
                <a:latin typeface="Calibri"/>
              </a:rPr>
              <a:t>–  </a:t>
            </a:r>
            <a:r>
              <a:rPr sz="1600" b="0" i="0">
                <a:solidFill>
                  <a:srgbClr val="595959"/>
                </a:solidFill>
                <a:latin typeface="Calibri"/>
              </a:rPr>
              <a:t>la sobretasa a baldíos empuja el relleno urbano en vez del sprawl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Menos viajes en auto, menor consumo energético e hídrico per cápita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Y se evita convertir suelo agrícola/pedemonte (carbono + recarga)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8C8C8C"/>
                </a:solidFill>
                <a:latin typeface="Calibri"/>
              </a:rPr>
              <a:t>–  </a:t>
            </a:r>
            <a:r>
              <a:rPr sz="1600" b="0" i="0">
                <a:solidFill>
                  <a:srgbClr val="595959"/>
                </a:solidFill>
                <a:latin typeface="Calibri"/>
              </a:rPr>
              <a:t>adaptación y mitigación: la misma palanca accionada una vez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F7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Para discutir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1091153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1" i="0">
                <a:solidFill>
                  <a:srgbClr val="CFE29A"/>
                </a:solidFill>
                <a:latin typeface="Calibri"/>
              </a:rPr>
              <a:t>?  </a:t>
            </a:r>
            <a:r>
              <a:rPr sz="2000" b="0" i="0">
                <a:solidFill>
                  <a:srgbClr val="FFFFFF"/>
                </a:solidFill>
                <a:latin typeface="Calibri"/>
              </a:rPr>
              <a:t>¿La captura de valor es regresiva o progresiva? ¿De qué depende?</a:t>
            </a:r>
          </a:p>
          <a:p>
            <a:pPr>
              <a:spcAft>
                <a:spcPts val="1600"/>
              </a:spcAft>
            </a:pPr>
            <a:r>
              <a:rPr sz="2200" b="1" i="0">
                <a:solidFill>
                  <a:srgbClr val="CFE29A"/>
                </a:solidFill>
                <a:latin typeface="Calibri"/>
              </a:rPr>
              <a:t>?  </a:t>
            </a:r>
            <a:r>
              <a:rPr sz="2000" b="0" i="0">
                <a:solidFill>
                  <a:srgbClr val="FFFFFF"/>
                </a:solidFill>
                <a:latin typeface="Calibri"/>
              </a:rPr>
              <a:t>¿Por qué un fideicomiso y no el presupuesto general?</a:t>
            </a:r>
          </a:p>
          <a:p>
            <a:pPr>
              <a:spcAft>
                <a:spcPts val="1600"/>
              </a:spcAft>
            </a:pPr>
            <a:r>
              <a:rPr sz="2200" b="1" i="0">
                <a:solidFill>
                  <a:srgbClr val="CFE29A"/>
                </a:solidFill>
                <a:latin typeface="Calibri"/>
              </a:rPr>
              <a:t>?  </a:t>
            </a:r>
            <a:r>
              <a:rPr sz="2000" b="0" i="0">
                <a:solidFill>
                  <a:srgbClr val="FFFFFF"/>
                </a:solidFill>
                <a:latin typeface="Calibri"/>
              </a:rPr>
              <a:t>¿Qué pasa si el take-up de derechos de construcción es bajo?</a:t>
            </a:r>
          </a:p>
          <a:p>
            <a:pPr>
              <a:spcAft>
                <a:spcPts val="1600"/>
              </a:spcAft>
            </a:pPr>
            <a:r>
              <a:rPr sz="2200" b="1" i="0">
                <a:solidFill>
                  <a:srgbClr val="CFE29A"/>
                </a:solidFill>
                <a:latin typeface="Calibri"/>
              </a:rPr>
              <a:t>?  </a:t>
            </a:r>
            <a:r>
              <a:rPr sz="2000" b="0" i="0">
                <a:solidFill>
                  <a:srgbClr val="FFFFFF"/>
                </a:solidFill>
                <a:latin typeface="Calibri"/>
              </a:rPr>
              <a:t>¿Lo replicarías en tu ciudad? ¿Qué instrumento primero?</a:t>
            </a:r>
          </a:p>
          <a:p>
            <a:pPr>
              <a:spcAft>
                <a:spcPts val="1600"/>
              </a:spcAft>
            </a:pPr>
            <a:r>
              <a:rPr sz="2200" b="1" i="0">
                <a:solidFill>
                  <a:srgbClr val="CFE29A"/>
                </a:solidFill>
                <a:latin typeface="Calibri"/>
              </a:rPr>
              <a:t>?  </a:t>
            </a:r>
            <a:r>
              <a:rPr sz="2000" b="0" i="0">
                <a:solidFill>
                  <a:srgbClr val="FFFFFF"/>
                </a:solidFill>
                <a:latin typeface="Calibri"/>
              </a:rPr>
              <a:t>¿Cómo se sostiene políticamente entre gestiones?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50292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572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4F7A12"/>
                </a:solidFill>
                <a:latin typeface="Calibri"/>
              </a:rPr>
              <a:t>PARA LLEVARSE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49808"/>
            <a:ext cx="106372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Cuatro ideas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911535" cy="2794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382512"/>
            <a:ext cx="10911535" cy="12700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Luján de Cuyo · Innovación en gestión del suelo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9496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9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" y="2121408"/>
            <a:ext cx="960120" cy="960120"/>
          </a:xfrm>
          <a:prstGeom prst="roundRect">
            <a:avLst/>
          </a:prstGeom>
          <a:solidFill>
            <a:srgbClr val="EAF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c_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579" y="2275027"/>
            <a:ext cx="652882" cy="65288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965960" y="2011680"/>
            <a:ext cx="393192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4F7A12"/>
                </a:solidFill>
                <a:latin typeface="Calibri"/>
              </a:rPr>
              <a:t>Una máquina replicable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595959"/>
                </a:solidFill>
                <a:latin typeface="Calibri"/>
              </a:rPr>
              <a:t>capturar → blindar → apalancar → redistribuir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828800"/>
            <a:ext cx="539496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9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92240" y="2121408"/>
            <a:ext cx="960120" cy="960120"/>
          </a:xfrm>
          <a:prstGeom prst="roundRect">
            <a:avLst/>
          </a:prstGeom>
          <a:solidFill>
            <a:srgbClr val="EAF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c_coi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5859" y="2275027"/>
            <a:ext cx="652882" cy="65288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35240" y="2011680"/>
            <a:ext cx="393192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4F7A12"/>
                </a:solidFill>
                <a:latin typeface="Calibri"/>
              </a:rPr>
              <a:t>Ya funciona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595959"/>
                </a:solidFill>
                <a:latin typeface="Calibri"/>
              </a:rPr>
              <a:t>~USD 1 M/año se recauda; el paquete podría llegar a ~USD 3 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611880"/>
            <a:ext cx="539496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9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2960" y="3904488"/>
            <a:ext cx="960120" cy="960120"/>
          </a:xfrm>
          <a:prstGeom prst="roundRect">
            <a:avLst/>
          </a:prstGeom>
          <a:solidFill>
            <a:srgbClr val="EAF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_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6579" y="4058107"/>
            <a:ext cx="652882" cy="65288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965960" y="3794760"/>
            <a:ext cx="393192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4F7A12"/>
                </a:solidFill>
                <a:latin typeface="Calibri"/>
              </a:rPr>
              <a:t>El fideicomiso es la llave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595959"/>
                </a:solidFill>
                <a:latin typeface="Calibri"/>
              </a:rPr>
              <a:t>convierte recurso local en contrapartida y repago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3611880"/>
            <a:ext cx="539496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9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92240" y="3904488"/>
            <a:ext cx="960120" cy="960120"/>
          </a:xfrm>
          <a:prstGeom prst="roundRect">
            <a:avLst/>
          </a:prstGeom>
          <a:solidFill>
            <a:srgbClr val="EAF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c_targ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5859" y="4058107"/>
            <a:ext cx="652882" cy="65288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635240" y="3794760"/>
            <a:ext cx="393192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4F7A12"/>
                </a:solidFill>
                <a:latin typeface="Calibri"/>
              </a:rPr>
              <a:t>Equidad por diseño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595959"/>
                </a:solidFill>
                <a:latin typeface="Calibri"/>
              </a:rPr>
              <a:t>el índice manda el dinero a donde más se necesita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5321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1A1A1A"/>
                </a:solidFill>
                <a:latin typeface="Calibri"/>
              </a:rPr>
              <a:t>"Una transición justa no se mide por el tamaño del cheque, sino por dónde aterriza."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