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Encuadre (1 min): vamos a ver cómo una ciudad intermedia semiárida está construyendo, en la práctica, un sistema para financiar su adaptación climática con recursos propios del suelo. No es teoría: dos instrumentos ya recaudan.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segundos. Mapa de la media hora: contexto → idea → instrumentos → arquitectura → asignación → evidencia → discusión.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Las cuatro piezas: capturar → blindar → apalancar → redistribuir. El orden importa: cada paso habilita el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Establecer la tensión: crecimiento acelerado sobre un recurso hídrico que se contrae. El periurbano que se lotea era zona de recarga.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Esta es la clave conceptual. La plusvalía depende de seguir teniendo agua; el desarrollo erosiona el agua. Capturar parte del incremento cierra el círculo: quien causa el costo, financia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Fundamento económico. La novedad no es la LVC (es vieja), sino acoplarla explícitamente a la adaptación climática y aplicarla en una ciudad intermedia.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Por qué esto importa más allá de Luján: la geografía del financiamiento es regresiva. Construir capacidad propia cambia el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min. Esta es la diapositiva-espina. Todo lo que sigue cuelga de aquí. Es un flujo, no una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Mostrar que no es papel: hay ordenanzas sancionadas (banco de tierras y fondo) y proyectos en tratamiento. El sistema está a medio construir, y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Transición. Ahora uno por uno. Marcar cuáles ya están OPERATIVOS.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Diseñado. Base = plan de obras 2026 real (~ARS 6.85 mil M). 69% de las obras tienen impacto ambiental alto/medio.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Diseñado. El instrumento que mejor encarna la paradoja agua-suelo: grava exactamente la transacción que produce la externalidad.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OPERATIVO — dato real. Es el segundo instrumento que ya recauda. Doble función: recurso + señal anti-sprawl.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Diseñado. El COS 2026 fija la base imponible. El techo (295M m²) es teórico: la recaudación depende del take-up del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Diseñados. Los incentivos internalizan la externalidad; los TDR resuelven la política de restringir suelo privado sin gasto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OPERATIVO — el dato estrella. No es uno de los 6 de captura de valor, pero demuestra que la base funciona. Robustez: crecimiento real en pesos antes de convertir; es cantidad (más conexiones) además de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Panorama. Resaltar: 2 ya operativos (baldíos y agua/cloaca); los 4 de captura de valor están diseñados.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El corazón institucional. La separación legal es lo que vuelve bancable el recurso y lo protege de ser gastado en otra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El recurso propio no es el destino; es el boleto de entrada. Resuelve los dos problemas que descalifican a las ciudades intermedias: falta de contrapartida y falta de repago creíble.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min. Un sistema de recaudación es tan bueno como su regla de gasto. El ICD evita que el dinero se gaste sólo donde se recauda.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Mostrar la desalineación parcial: hoy la inversión va donde el suelo vale más, no donde más falta. El ICD + el fideicomiso corrigen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min. ~USD 1M YA se recauda. El paquete completo: ~USD 3M (base), antes de apalancamiento. Brecha ilustrativa de espacio verde: USD 56M → el bono verde la cierra.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min. Punto central para el mandato de C40/JCCPE: que el financiamiento climático no refuerce inequidades. La incidencia es variable de diseño, no un anexo.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Cierra la pata "low-carbon" del mandato. La densificación con captura de valor es también política de mitigación.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Lo que cualquier ciudad intermedia semiárida puede copiar. Redes como C40/ICLEI son canales de difusión.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5–8 min de discusión. Usar la diapositiva 20 (alineación) como disparador de la pregunta de equidad.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de cierre. La frase final resume el caso: una ciudad intermedia que captura y dirige su propia plusvalía puede hacer que el cheque aterrice en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del paper de investigación que acompaña esta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Luján de Cuyo: innovación en gestión del suelo</a:t>
            </a:r>
          </a:p>
          <a:p>
            <a:pPr>
              <a:spcBef>
                <a:spcPts val="1200"/>
              </a:spcBef>
              <a:defRPr sz="2400">
                <a:solidFill>
                  <a:srgbClr val="CFE2EA"/>
                </a:solidFill>
              </a:defRPr>
            </a:pPr>
            <a:r>
              <a:t>Captura de valor del suelo para financiar la adaptación climática</a:t>
            </a:r>
          </a:p>
          <a:p>
            <a:pPr>
              <a:spcBef>
                <a:spcPts val="1800"/>
              </a:spcBef>
              <a:defRPr sz="1800">
                <a:solidFill>
                  <a:srgbClr val="E8EEF1"/>
                </a:solidFill>
              </a:defRPr>
            </a:pPr>
            <a:r>
              <a:t>Seis instrumentos · un Fideicomiso · el Índice de Ciudad Deseada</a:t>
            </a:r>
          </a:p>
          <a:p>
            <a:pPr>
              <a:spcBef>
                <a:spcPts val="2400"/>
              </a:spcBef>
              <a:defRPr sz="1400">
                <a:solidFill>
                  <a:srgbClr val="9FC0CE"/>
                </a:solidFill>
              </a:defRPr>
            </a:pPr>
            <a:r>
              <a:t>Clase — 30 minutos  |  Caso Mendoza, Argentina  |  CIPUV–UTDT / Lincoln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Hoja de ruta de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contexto: Luján de Cuyo y la paradoja agua–suelo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idea: captura de valor del suelo (LVC) y por qué importa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innovación: un sistema de 6 instrumentos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arquitectura: Banco de Tierras + Fondo + Fideicomiso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regla de gasto: Índice de Ciudad Deseada (equidad)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Los números reales y la evidencia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Apalancamiento, co-beneficios y lecciones transferibles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Discusión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La idea en una frase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C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p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t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u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p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u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s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v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í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q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u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g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n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p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o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p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i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o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d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e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s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o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l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o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u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r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b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a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n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o</a:t>
            </a:r>
          </a:p>
          <a:p>
            <a:pPr>
              <a:spcBef>
                <a:spcPts val="600"/>
              </a:spcBef>
              <a:defRPr sz="1800">
                <a:solidFill>
                  <a:srgbClr val="E8EEF1"/>
                </a:solidFill>
              </a:defRPr>
            </a:pPr>
            <a:r>
              <a:t>,</a:t>
            </a:r>
          </a:p>
          <a:p>
            <a:pPr>
              <a:spcBef>
                <a:spcPts val="800"/>
              </a:spcBef>
              <a:defRPr sz="2800" b="1">
                <a:solidFill>
                  <a:srgbClr val="FFD28A"/>
                </a:solidFill>
              </a:defRPr>
            </a:pPr>
            <a:r>
              <a:t>blindarla en un fideicomiso,</a:t>
            </a:r>
          </a:p>
          <a:p>
            <a:pPr>
              <a:spcBef>
                <a:spcPts val="800"/>
              </a:spcBef>
              <a:defRPr sz="2800" b="1">
                <a:solidFill>
                  <a:srgbClr val="FFD28A"/>
                </a:solidFill>
              </a:defRPr>
            </a:pPr>
            <a:r>
              <a:t>usarla para apalancar financiamiento climático internacional,</a:t>
            </a:r>
          </a:p>
          <a:p>
            <a:pPr>
              <a:spcBef>
                <a:spcPts val="800"/>
              </a:spcBef>
              <a:defRPr sz="2800" b="1">
                <a:solidFill>
                  <a:srgbClr val="FFD28A"/>
                </a:solidFill>
              </a:defRPr>
            </a:pPr>
            <a:r>
              <a:t>y asignarla con equidad hacia donde más se necesita.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contexto: una ciudad que crece con presupuesto de agua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Luján de Cuyo (Mendoza): ~175.000 hab. (censo 2022; +46% vs 2010)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Oasis semiárido al pie de los Andes: ~200 mm de lluvia/año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todo el sistema productivo y urbano depende del deshielo andino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Dos tendencias en colisión: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el manto nival se reduce con el calentamiento (3 décadas)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la población crece y urbaniza el periurbano regado (viñedos/fincas)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Cada hectárea convertida suma demanda de agua y resta recarga del acuífero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 paradoja agua–suelo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Rezonificar un viñedo a loteo multiplica su valor varias veces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Pero el mismo acto: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sella superficie permeable y elimina recarga del acuífero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cambia riego por consumo domiciliario (mayor per cápita)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borra sumidero de carbono y servicios ecosistémicos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Ganancia privada y costo colectivo se producen en una sola decisión —que otorga el propio Concejo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→ El incremento de valor es la base natural para financiar la respuesta de adaptación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¿Qué es la captura de valor del suelo (LVC)?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precio del suelo capitaliza la inversión pública, la regulación y el crecimiento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Buena parte de ese incremento es "no ganado" por el propietario (Henry George; Glaeser; Duranton &amp; Puga)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→ Base imponible eficiente (recae sobre una ganancia no productiva) y justa (recae sobre quien la capturó)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Tradición latinoamericana: contribución de valorización (Colombia), CEPACs (São Paulo), Estatuto de la Ciudad (Brasil 2001)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Brecha: la LVC corrió separada del financiamiento climático (Dunning &amp; Lord, 2020) — este caso las une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problema de fondo: el dinero sigue la capacidad, no la necesidad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Brecha de financiamiento de adaptación enorme; ciudades de economías en desarrollo necesitan ~USD 147 mil M/año a 2030 (CCFLA, 2024)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financiamiento climático fluye a las metrópolis con más capacidad institucional, no a las más expuestas (Clifton et al., 2025)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Las ciudades intermedias quedan atrapadas: sin capacidad no acceden; sin acceso no construyen capacidad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salida: generar recurso propio, predecible y blindado → la "llave" que pide el financista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 innovación: un sistema, no instrumentos 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Crear valor (obra pública, rezonificación, servicios) →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Capturar valor (6 instrumentos de LVC) →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Administrar y blindar (Banco de Tierras + Fondo de Economía Urbana + Fideicomiso) →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Redistribuir con criterio (Índice de Ciudad Deseada) →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Apalancar (matching + bono verde + multilaterales)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La coordinación es lo que convierte 6 cargos modestos en un sistema bancable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andamiaje normativo (2023–2026)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Ordenanza de Instrumentos de Economía Urbana (en tratamiento)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Banco Municipal de Tierras e Inmuebles (BMTI) — Ord. 15081/2025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Fondo de Economía Urbana de Luján de Cuyo (FEULDC) — Ord. 15093/2025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Fideicomiso de Administración (decreto reglamentario pendiente)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Código de Ordenamiento del Suelo (COS 2026, proyecto)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Tarifaria 2026: Unidad Tributaria (UT) = $235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Los seis instrumentos</a:t>
            </a:r>
          </a:p>
          <a:p>
            <a:pPr>
              <a:spcBef>
                <a:spcPts val="1000"/>
              </a:spcBef>
              <a:defRPr sz="2200">
                <a:solidFill>
                  <a:srgbClr val="CFE2EA"/>
                </a:solidFill>
              </a:defRPr>
            </a:pPr>
            <a:r>
              <a:t>Cada uno captura el incremento en un punto distinto del ciclo de desarrollo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 · Contribución por Mejoras (betterment)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Qué grava: el aumento de valor que una obra pública genera en los inmuebles vecinos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Tasa: 30–50% del incremento de avalúo dentro de una "zona de beneficio" (delimitada por SIG)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Pago en cuotas para no golpear a hogares de menores ingresos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La recaudación de obras hídricas se afecta al fondo de adaptación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Doble función: financia la obra y demuestra, en efectivo, que la obra "rindió"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 · Participación en la Valoración de Activos (renta diferencial)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Qué grava: la plusvalía por rezonificación o mayor intensidad de uso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Tasa: 30–50% del diferencial de valor antes/después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Es la lógica del sistema en miniatura: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la conversión de suelo permeable a impermeable genera el costo de adaptación…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…y el mismo instrumento captura el pago que lo financia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 · Sobretasa a Inmueble Ocioso (baldíos) —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Qué grava: parcelas servidas pero ociosas dentro del perímetro urbano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Recargo progresivo: +100% (zonas estándar) y +200% (vacíos urbanos prioritarios)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Datos reales 2026: 5.315 lotes alcanzados (4.996 al +100%; 319 al +200%)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Recaudación estimada ~ARS 345 M/año (≈ USD 277.500)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Promueve desarrollo compacto y penaliza la especulación; usa el padrón existente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 · Suelo Creado / Derechos de Construcción Adicional (DCA)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Qué vende: el derecho a construir por encima de una "línea de base" de edificabilidad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Modelo CEPAC (São Paulo) adaptado a escala de ciudad intermedia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COS 2026: base 10 m → máximo 36 m (~8,7 pisos extra) sólo vía compra de derechos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Precio por m² referenciado al valor de mercado; bonos de densidad por eficiencia hídrica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Techo teórico habilitado: ~295 millones de m² en 7 zonas (4.491 ha)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· Incentivos fiscales  ·  6 · Transferencia de Derechos (TDR)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Incentivos fiscales — un "gradiente verde":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descuentos por eficiencia hídrica, superficie permeable, arbolado, estándar verde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desarrollar sin adaptación paga el cargo pleno; con adaptación, alivio fiscal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Transferencia de Derechos de Construcción (TDR):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proteger zonas de recarga, riberas y suelo agrícola sin comprarlas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zonas "emisoras" venden derechos a zonas "receptoras" → compensación de mercado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(+) Aporte de Agua y Cloaca — OPERATIVO · la evidencia más fuerte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Cargo de desarrollo para reservar capacidad de servicio a nuevo desarrollo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Recaudación real (en USD constantes, ajustada por inflación y tipo de cambio):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2021: USD 60.700  →  2025: USD 690.500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≈ 11× en términos reales (CAGR 83,7%) en plena turbulencia macro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Prueba de concepto en efectivo: un cargo ligado al suelo escala en pocos años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Resumen: los instrumentos de un vistazo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  <a:gridCol w="310896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Instrumento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Disparador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Tasa / base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Contribución por Mejoras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Obra pública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30–50% del incremento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Diseñado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Participación en Valoración (PVA)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Rezonificación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30–50% del diferencial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Sobretasa a baldíos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Lote ocioso servido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+100% / +200%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OPERATIVO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Suelo Creado / DCA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Edificar sobre la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Precio de mercado (COS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Incentivos fiscales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Diseño climático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Alivio variable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Diseñado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Transferencia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Zona receptora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Mercado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Diseñado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Aporte Agua y Cloaca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Nuevo desarrollo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Tarifaria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A3A3A"/>
                          </a:solidFill>
                        </a:defRPr>
                      </a:pPr>
                      <a:r>
                        <a:t>OPERATIVO (11×)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 arquitectura: ¿por qué un Fideicomiso?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Recurso blindado, legalmente separado del presupuesto general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Es el "colateral" que un banco o un bono puede ver y auditar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Tres subcuentas: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Inversión en infraestructura — 60% (agua, recarga, pluviales, verde)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Operación y mantenimiento — 25% (lo que el grant suele olvidar)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Cuenta de Apalancamiento — 15% (fondos de contrapartida)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Gobernanza: directorio + 2 miembros externos, mayoría calificada, auditoría publicada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Blinda los recursos entre gestiones electorales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 escalera de apalancamiento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1) Matching: la Cuenta de Apalancamiento (~USD 0,45M/año a base USD 3M) ancla la contrapartida de 10–30% que piden los fondos (GCF, bilaterales)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2) Emitir: el flujo predecible y blindado respalda un bono verde de 3–4× la recaudación anual (~USD 9–12M)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3) Escalar: el historial de proyectos ejecutados abre facilidades mayores (CAF, BID, Banco Mundial, GCF)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La credibilidad, como el capital, se acumula: empezar con proyectos chicos, visibles y seguros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 regla de gasto: Índice de Ciudad Deseada (ICD)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3A3A3A"/>
                </a:solidFill>
              </a:rPr>
              <a:t>• Índice compuesto, por distrito — 6 dimensiones: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Espacios verdes · Movilidad · Compacidad · Servicios comunitarios · Equidad · Infraestructura básica (incl. demanda hídrica)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Escala de suficiencia A–E (A ≥90% … E &lt;25%); menor nota = mayor prioridad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agua entra 3 veces: verde, demanda hídrica y compacidad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Asigna la inversión a la necesidad y genera la evidencia que pide el financista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¿Dónde se necesita vs. dónde se invierte?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20</a:t>
            </a:r>
          </a:p>
        </p:txBody>
      </p:sp>
      <p:pic>
        <p:nvPicPr>
          <p:cNvPr id="4" name="Picture 3" descr="fig_alignment_works_vs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821714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2801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A3A3A"/>
                </a:solidFill>
              </a:rPr>
              <a:t>• Hallazgo: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</a:rPr>
              <a:t>– las 2 mayores inversiones (centralidades Ciudad y Carrodilla) caen en distritos que YA puntúan bien en verde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</a:rPr>
              <a:t>– los distritos más necesitados (Vistalba, Las Compuertas, Industrial) no reciben obra verde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A3A3A"/>
                </a:solidFill>
              </a:rPr>
              <a:t>• La palanca: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</a:rPr>
              <a:t>– las microplazas (ARS 1.200M, ~20 plazas, sin localizar) — asignarlas a distritos D/E alinea inversión con necesidad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Los números reales (USD/año, antes de apalancamiento)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1B6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Contribución por Mejoras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0,70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1,12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1,40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Suelo Creado / DCA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0,09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0,57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1,89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Participación en Valoración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0,06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0,38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1,36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Realizado operativo (agua + baldíos)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0,97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0,97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0,97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TOTAL potencial anual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1,82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3,04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A3A3A"/>
                          </a:solidFill>
                        </a:defRPr>
                      </a:pPr>
                      <a:r>
                        <a:t>5,62 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Equidad: ¿quién paga y quién se beneficia?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Quién paga: los propietarios que capturan la plusvalía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rezonificación y derechos de construcción → quienes lucran con la intensificación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sobretasa → quienes mantienen suelo servido ocioso (bases progresivas)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Quién se beneficia: los distritos con menor acceso a verde, agua y servicios (vía ICD)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Deliberadamente redistributivo: capturar donde se crea valor, gastar donde el déficit es mayor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con suelo inelástico (límite hídrico), la carga recae en el terrateniente → caso progresivo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Co-beneficios low-carbon (no sólo adaptación)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Los instrumentos premian el desarrollo compacto y orientado al transporte (TOD)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corredor del metrotranvía y centralidades concentran la edificabilidad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la sobretasa a baldíos empuja el relleno urbano en vez del sprawl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Resultado: menos viajes en auto, menor consumo energético e hídrico per cápita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Y se evita convertir suelo agrícola/pedemonte (carbono + recarga)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Adaptación y mitigación: la misma palanca accionada una vez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Lecciones transferibles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Tratar la plusvalía y el costo de adaptación como una sola transacción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Adoptar los instrumentos como paquete; secuenciar por capacidad (empezar por baldíos + agua/cloaca)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Indexar las bases a inflación y afectar todo al fondo por ordenanza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Diseñar el fideicomiso desde el día 1 como vehículo de apalancamiento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Atar el gasto a un índice por distrito que explicite la incidencia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Enmarcar como financiamiento de adaptación, no como impuesto; transparencia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Para discutir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¿Es la captura de valor regresiva o progresiva? ¿De qué depende?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¿Por qué un fideicomiso y no el presupuesto general?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¿Qué pasa si el take-up de derechos de construcción es bajo?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¿Replicarías esto en tu ciudad? ¿Qué instrumento primero?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¿Cómo se sostiene políticamente entre gestiones?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Para llevarse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Luján de Cuyo construyó una "máquina" replicable: capturar → blindar → apalancar → redistribuir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Dos instrumentos ya recaudan (~USD 1M/año); el paquete podría llegar a ~USD 3M antes de apalancar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fideicomiso convierte recurso local en contrapartida y repago → acceso a finanzas climáticas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El índice asegura que el dinero llegue a donde más se necesita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</a:rPr>
              <a:t>– "Una transición justa no se mide por el tamaño del cheque, sino por dónde aterriza"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2560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FE2EA"/>
                </a:solidFill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Municipalidad de Luján de Cuyo — Ordenanzas, Tarifaria 2026, Plan de Obras 2026, padrón, COS 2026, Laboratorio de Políticas Públicas (Índice de Ciudad Deseada)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CCFLA &amp; Climate Policy Initiative (2024); C40 Cities &amp; GCoM (2026); Coalition for Urban Transitions (2019)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A3A3A"/>
                </a:solidFill>
              </a:rPr>
              <a:t>• Clifton et al. (2025); Dunning &amp; Lord (2020); Smolka (2013); OECD &amp; Lincoln Institute (2022); Glaeser (2011); Duranton &amp; Puga (2015)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